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4630400" cy="8229600"/>
  <p:notesSz cx="8229600" cy="14630400"/>
  <p:embeddedFontLst>
    <p:embeddedFont>
      <p:font typeface="Poppins"/>
      <p:regular r:id="rId32"/>
    </p:embeddedFont>
    <p:embeddedFont>
      <p:font typeface="Poppins"/>
      <p:regular r:id="rId33"/>
    </p:embeddedFont>
    <p:embeddedFont>
      <p:font typeface="Poppins"/>
      <p:regular r:id="rId34"/>
    </p:embeddedFont>
    <p:embeddedFont>
      <p:font typeface="Poppins"/>
      <p:regular r:id="rId35"/>
    </p:embeddedFont>
    <p:embeddedFont>
      <p:font typeface="Roboto"/>
      <p:regular r:id="rId36"/>
    </p:embeddedFont>
    <p:embeddedFont>
      <p:font typeface="Roboto"/>
      <p:regular r:id="rId37"/>
    </p:embeddedFont>
    <p:embeddedFont>
      <p:font typeface="Roboto"/>
      <p:regular r:id="rId38"/>
    </p:embeddedFont>
    <p:embeddedFont>
      <p:font typeface="Roboto"/>
      <p:regular r:id="rId39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Relationship Id="rId32" Type="http://schemas.openxmlformats.org/officeDocument/2006/relationships/font" Target="fonts/font1.fntdata"/><Relationship Id="rId33" Type="http://schemas.openxmlformats.org/officeDocument/2006/relationships/font" Target="fonts/font2.fntdata"/><Relationship Id="rId34" Type="http://schemas.openxmlformats.org/officeDocument/2006/relationships/font" Target="fonts/font3.fntdata"/><Relationship Id="rId35" Type="http://schemas.openxmlformats.org/officeDocument/2006/relationships/font" Target="fonts/font4.fntdata"/><Relationship Id="rId36" Type="http://schemas.openxmlformats.org/officeDocument/2006/relationships/font" Target="fonts/font5.fntdata"/><Relationship Id="rId37" Type="http://schemas.openxmlformats.org/officeDocument/2006/relationships/font" Target="fonts/font6.fntdata"/><Relationship Id="rId38" Type="http://schemas.openxmlformats.org/officeDocument/2006/relationships/font" Target="fonts/font7.fntdata"/><Relationship Id="rId39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8DE2D6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8DE2D6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4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8DE2D6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5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6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7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8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8DE2D6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9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0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1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2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8DE2D6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3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4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5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0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2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5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7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9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20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oracle.com/javase/8/docs/api/java/util/ArrayList.html" TargetMode="External"/><Relationship Id="rId4" Type="http://schemas.openxmlformats.org/officeDocument/2006/relationships/hyperlink" Target="https://www.youtube.com/watch?v=uUWEfmaFOkE" TargetMode="External"/><Relationship Id="rId1" Type="http://schemas.openxmlformats.org/officeDocument/2006/relationships/image" Target="../media/image-20-1.png"/><Relationship Id="rId3" Type="http://schemas.openxmlformats.org/officeDocument/2006/relationships/image" Target="../media/image-20-2.png"/><Relationship Id="rId5" Type="http://schemas.openxmlformats.org/officeDocument/2006/relationships/image" Target="../media/image-20-3.png"/><Relationship Id="rId6" Type="http://schemas.openxmlformats.org/officeDocument/2006/relationships/slideLayout" Target="../slideLayouts/slideLayout21.xml"/><Relationship Id="rId7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23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24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97659" y="2189202"/>
            <a:ext cx="2893219" cy="89106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425922" y="3482935"/>
            <a:ext cx="7264956" cy="1157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9100"/>
              </a:lnSpc>
              <a:buNone/>
            </a:pPr>
            <a:r>
              <a:rPr lang="en-US" sz="725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Ja</a:t>
            </a:r>
            <a:pPr indent="0" marL="0">
              <a:lnSpc>
                <a:spcPts val="9100"/>
              </a:lnSpc>
              <a:buNone/>
            </a:pPr>
            <a:r>
              <a:rPr lang="en-US" sz="7250" b="1" dirty="0">
                <a:solidFill>
                  <a:srgbClr val="FFCC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va</a:t>
            </a:r>
            <a:endParaRPr lang="en-US" sz="7250" dirty="0"/>
          </a:p>
        </p:txBody>
      </p:sp>
      <p:sp>
        <p:nvSpPr>
          <p:cNvPr id="5" name="Shape 1"/>
          <p:cNvSpPr/>
          <p:nvPr/>
        </p:nvSpPr>
        <p:spPr>
          <a:xfrm>
            <a:off x="6425922" y="5177393"/>
            <a:ext cx="7264956" cy="41077"/>
          </a:xfrm>
          <a:prstGeom prst="rect">
            <a:avLst/>
          </a:prstGeom>
          <a:solidFill>
            <a:srgbClr val="272525">
              <a:alpha val="50000"/>
            </a:srgbClr>
          </a:solidFill>
          <a:ln/>
        </p:spPr>
      </p:sp>
      <p:sp>
        <p:nvSpPr>
          <p:cNvPr id="6" name="Text 2"/>
          <p:cNvSpPr/>
          <p:nvPr/>
        </p:nvSpPr>
        <p:spPr>
          <a:xfrm>
            <a:off x="6425922" y="5621060"/>
            <a:ext cx="4557474" cy="419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3300"/>
              </a:lnSpc>
              <a:buNone/>
            </a:pPr>
            <a:r>
              <a:rPr lang="en-US" sz="26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Clase 03 | Cadenas y listas</a:t>
            </a:r>
            <a:endParaRPr lang="en-US" sz="26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13080" y="228600"/>
            <a:ext cx="1188720" cy="3644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417558"/>
          </a:xfrm>
          <a:prstGeom prst="rect">
            <a:avLst/>
          </a:prstGeom>
          <a:solidFill>
            <a:srgbClr val="FFD900"/>
          </a:solidFill>
          <a:ln/>
        </p:spPr>
      </p:sp>
      <p:sp>
        <p:nvSpPr>
          <p:cNvPr id="3" name="Text 1"/>
          <p:cNvSpPr/>
          <p:nvPr/>
        </p:nvSpPr>
        <p:spPr>
          <a:xfrm>
            <a:off x="3077051" y="4072295"/>
            <a:ext cx="847617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¡Les damos la bienvenida! </a:t>
            </a:r>
            <a:pPr algn="ctr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🚀</a:t>
            </a:r>
            <a:endParaRPr lang="en-US" sz="4450" dirty="0"/>
          </a:p>
        </p:txBody>
      </p:sp>
      <p:sp>
        <p:nvSpPr>
          <p:cNvPr id="4" name="Text 2"/>
          <p:cNvSpPr/>
          <p:nvPr/>
        </p:nvSpPr>
        <p:spPr>
          <a:xfrm>
            <a:off x="793790" y="5121235"/>
            <a:ext cx="13042821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5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🎥</a:t>
            </a:r>
            <a:pPr algn="ctr" indent="0" marL="0">
              <a:lnSpc>
                <a:spcPts val="35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Vamos a comenzar a grabar la clase.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347788"/>
          </a:xfrm>
          <a:prstGeom prst="rect">
            <a:avLst/>
          </a:prstGeom>
          <a:solidFill>
            <a:srgbClr val="FFF800"/>
          </a:solidFill>
          <a:ln/>
        </p:spPr>
      </p:sp>
      <p:sp>
        <p:nvSpPr>
          <p:cNvPr id="3" name="Text 1"/>
          <p:cNvSpPr/>
          <p:nvPr/>
        </p:nvSpPr>
        <p:spPr>
          <a:xfrm>
            <a:off x="754737" y="1940719"/>
            <a:ext cx="5391150" cy="6738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300"/>
              </a:lnSpc>
              <a:buNone/>
            </a:pPr>
            <a:r>
              <a:rPr lang="en-US" sz="42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Índice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754737" y="3045714"/>
            <a:ext cx="13120926" cy="34528"/>
          </a:xfrm>
          <a:prstGeom prst="rect">
            <a:avLst/>
          </a:prstGeom>
          <a:solidFill>
            <a:srgbClr val="272525">
              <a:alpha val="50000"/>
            </a:srgbClr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4737" y="3322677"/>
            <a:ext cx="6560463" cy="86248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70359" y="4508540"/>
            <a:ext cx="3661172" cy="3369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272525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Clase 03 | </a:t>
            </a:r>
            <a:pPr algn="l" indent="0" marL="0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272525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Cadenas y listas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970359" y="4974788"/>
            <a:ext cx="6129218" cy="3449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ts val="2700"/>
              </a:lnSpc>
              <a:buSzPct val="100000"/>
              <a:buChar char="•"/>
            </a:pPr>
            <a:r>
              <a:rPr lang="en-US" sz="1650" dirty="0">
                <a:solidFill>
                  <a:srgbClr val="27252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Manipulación de cadenas de caracteres.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970359" y="5395079"/>
            <a:ext cx="6129218" cy="3449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ts val="2700"/>
              </a:lnSpc>
              <a:buSzPct val="100000"/>
              <a:buChar char="•"/>
            </a:pPr>
            <a:r>
              <a:rPr lang="en-US" sz="1650" dirty="0">
                <a:solidFill>
                  <a:srgbClr val="27252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Métodos comunes de cadenas.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970359" y="5815370"/>
            <a:ext cx="6129218" cy="3449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ts val="2700"/>
              </a:lnSpc>
              <a:buSzPct val="100000"/>
              <a:buChar char="•"/>
            </a:pPr>
            <a:r>
              <a:rPr lang="en-US" sz="1650" dirty="0">
                <a:solidFill>
                  <a:srgbClr val="27252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Introducción a arrays y listas.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970359" y="6235660"/>
            <a:ext cx="6129218" cy="3449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ts val="2700"/>
              </a:lnSpc>
              <a:buSzPct val="100000"/>
              <a:buChar char="•"/>
            </a:pPr>
            <a:r>
              <a:rPr lang="en-US" sz="1650" dirty="0">
                <a:solidFill>
                  <a:srgbClr val="27252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Uso de ArrayList y sus métodos.</a:t>
            </a:r>
            <a:endParaRPr lang="en-US" sz="165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3322677"/>
            <a:ext cx="6560463" cy="86248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530822" y="4508540"/>
            <a:ext cx="5076706" cy="3369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272525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Clase 4 </a:t>
            </a:r>
            <a:pPr algn="l" indent="0" marL="0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272525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| </a:t>
            </a:r>
            <a:pPr algn="l" indent="0" marL="0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272525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Funciones y Modularización</a:t>
            </a:r>
            <a:endParaRPr lang="en-US" sz="2100" dirty="0"/>
          </a:p>
        </p:txBody>
      </p:sp>
      <p:sp>
        <p:nvSpPr>
          <p:cNvPr id="13" name="Text 9"/>
          <p:cNvSpPr/>
          <p:nvPr/>
        </p:nvSpPr>
        <p:spPr>
          <a:xfrm>
            <a:off x="7530822" y="4974788"/>
            <a:ext cx="6129218" cy="3449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ts val="2700"/>
              </a:lnSpc>
              <a:buSzPct val="100000"/>
              <a:buChar char="•"/>
            </a:pPr>
            <a:r>
              <a:rPr lang="en-US" sz="1650" dirty="0">
                <a:solidFill>
                  <a:srgbClr val="27252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Concepto de funciones (métodos) en Java.</a:t>
            </a:r>
            <a:endParaRPr lang="en-US" sz="1650" dirty="0"/>
          </a:p>
        </p:txBody>
      </p:sp>
      <p:sp>
        <p:nvSpPr>
          <p:cNvPr id="14" name="Text 10"/>
          <p:cNvSpPr/>
          <p:nvPr/>
        </p:nvSpPr>
        <p:spPr>
          <a:xfrm>
            <a:off x="7530822" y="5395079"/>
            <a:ext cx="6129218" cy="3449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ts val="2700"/>
              </a:lnSpc>
              <a:buSzPct val="100000"/>
              <a:buChar char="•"/>
            </a:pPr>
            <a:r>
              <a:rPr lang="en-US" sz="1650" dirty="0">
                <a:solidFill>
                  <a:srgbClr val="27252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Declaración y llamada de funciones.</a:t>
            </a:r>
            <a:endParaRPr lang="en-US" sz="1650" dirty="0"/>
          </a:p>
        </p:txBody>
      </p:sp>
      <p:sp>
        <p:nvSpPr>
          <p:cNvPr id="15" name="Text 11"/>
          <p:cNvSpPr/>
          <p:nvPr/>
        </p:nvSpPr>
        <p:spPr>
          <a:xfrm>
            <a:off x="7530822" y="5815370"/>
            <a:ext cx="6129218" cy="3449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ts val="2700"/>
              </a:lnSpc>
              <a:buSzPct val="100000"/>
              <a:buChar char="•"/>
            </a:pPr>
            <a:r>
              <a:rPr lang="en-US" sz="1650" dirty="0">
                <a:solidFill>
                  <a:srgbClr val="27252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Parámetros y argumentos.</a:t>
            </a:r>
            <a:endParaRPr lang="en-US" sz="1650" dirty="0"/>
          </a:p>
        </p:txBody>
      </p:sp>
      <p:sp>
        <p:nvSpPr>
          <p:cNvPr id="16" name="Text 12"/>
          <p:cNvSpPr/>
          <p:nvPr/>
        </p:nvSpPr>
        <p:spPr>
          <a:xfrm>
            <a:off x="7530822" y="6235660"/>
            <a:ext cx="6129218" cy="3449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ts val="2700"/>
              </a:lnSpc>
              <a:buSzPct val="100000"/>
              <a:buChar char="•"/>
            </a:pPr>
            <a:r>
              <a:rPr lang="en-US" sz="1650" dirty="0">
                <a:solidFill>
                  <a:srgbClr val="27252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Paso por valor y referencia.</a:t>
            </a:r>
            <a:endParaRPr lang="en-US" sz="1650" dirty="0"/>
          </a:p>
        </p:txBody>
      </p:sp>
      <p:sp>
        <p:nvSpPr>
          <p:cNvPr id="17" name="Text 13"/>
          <p:cNvSpPr/>
          <p:nvPr/>
        </p:nvSpPr>
        <p:spPr>
          <a:xfrm>
            <a:off x="7530822" y="6655951"/>
            <a:ext cx="6129218" cy="3449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ts val="2700"/>
              </a:lnSpc>
              <a:buSzPct val="100000"/>
              <a:buChar char="•"/>
            </a:pPr>
            <a:r>
              <a:rPr lang="en-US" sz="1650" dirty="0">
                <a:solidFill>
                  <a:srgbClr val="27252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Sobrecarga de métodos.</a:t>
            </a:r>
            <a:endParaRPr lang="en-US" sz="1650" dirty="0"/>
          </a:p>
        </p:txBody>
      </p:sp>
      <p:sp>
        <p:nvSpPr>
          <p:cNvPr id="18" name="Text 14"/>
          <p:cNvSpPr/>
          <p:nvPr/>
        </p:nvSpPr>
        <p:spPr>
          <a:xfrm>
            <a:off x="7530822" y="7076242"/>
            <a:ext cx="6129218" cy="3449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ts val="2700"/>
              </a:lnSpc>
              <a:buSzPct val="100000"/>
              <a:buChar char="•"/>
            </a:pPr>
            <a:r>
              <a:rPr lang="en-US" sz="1650" dirty="0">
                <a:solidFill>
                  <a:srgbClr val="27252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Buenas prácticas de modularización.</a:t>
            </a:r>
            <a:endParaRPr lang="en-US" sz="1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417558"/>
          </a:xfrm>
          <a:prstGeom prst="rect">
            <a:avLst/>
          </a:prstGeom>
          <a:solidFill>
            <a:srgbClr val="FFD011"/>
          </a:solidFill>
          <a:ln/>
        </p:spPr>
      </p:sp>
      <p:sp>
        <p:nvSpPr>
          <p:cNvPr id="3" name="Text 1"/>
          <p:cNvSpPr/>
          <p:nvPr/>
        </p:nvSpPr>
        <p:spPr>
          <a:xfrm>
            <a:off x="793790" y="2334935"/>
            <a:ext cx="623339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Objetivos de la Clase.</a:t>
            </a:r>
            <a:endParaRPr lang="en-US" sz="4450" dirty="0"/>
          </a:p>
        </p:txBody>
      </p:sp>
      <p:sp>
        <p:nvSpPr>
          <p:cNvPr id="4" name="Shape 2"/>
          <p:cNvSpPr/>
          <p:nvPr/>
        </p:nvSpPr>
        <p:spPr>
          <a:xfrm>
            <a:off x="793790" y="3497256"/>
            <a:ext cx="13042821" cy="35957"/>
          </a:xfrm>
          <a:prstGeom prst="rect">
            <a:avLst/>
          </a:prstGeom>
          <a:solidFill>
            <a:srgbClr val="272525">
              <a:alpha val="5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793790" y="4043482"/>
            <a:ext cx="510302" cy="510302"/>
          </a:xfrm>
          <a:prstGeom prst="roundRect">
            <a:avLst>
              <a:gd name="adj" fmla="val 1792"/>
            </a:avLst>
          </a:prstGeom>
          <a:solidFill>
            <a:srgbClr val="8DE2D6"/>
          </a:solidFill>
          <a:ln w="7620">
            <a:solidFill>
              <a:srgbClr val="73C8B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4885" y="4128492"/>
            <a:ext cx="127992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1</a:t>
            </a:r>
            <a:endParaRPr lang="en-US" sz="2650" dirty="0"/>
          </a:p>
        </p:txBody>
      </p:sp>
      <p:sp>
        <p:nvSpPr>
          <p:cNvPr id="7" name="Text 5"/>
          <p:cNvSpPr/>
          <p:nvPr/>
        </p:nvSpPr>
        <p:spPr>
          <a:xfrm>
            <a:off x="1530906" y="4043482"/>
            <a:ext cx="5670947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Comprender cadenas de caracteres en Java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530906" y="4888230"/>
            <a:ext cx="5670947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Aprenderemos las principales operaciones para manipular strings.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7428667" y="4043482"/>
            <a:ext cx="510302" cy="510302"/>
          </a:xfrm>
          <a:prstGeom prst="roundRect">
            <a:avLst>
              <a:gd name="adj" fmla="val 1792"/>
            </a:avLst>
          </a:prstGeom>
          <a:solidFill>
            <a:srgbClr val="8DE2D6"/>
          </a:solidFill>
          <a:ln w="7620">
            <a:solidFill>
              <a:srgbClr val="73C8B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586663" y="4128492"/>
            <a:ext cx="194310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2</a:t>
            </a:r>
            <a:endParaRPr lang="en-US" sz="2650" dirty="0"/>
          </a:p>
        </p:txBody>
      </p:sp>
      <p:sp>
        <p:nvSpPr>
          <p:cNvPr id="11" name="Text 9"/>
          <p:cNvSpPr/>
          <p:nvPr/>
        </p:nvSpPr>
        <p:spPr>
          <a:xfrm>
            <a:off x="8165783" y="4043482"/>
            <a:ext cx="515993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Introducir arrays y sus limitaciones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8165783" y="4533900"/>
            <a:ext cx="5670947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Exploraremos el uso de arrays para almacenar colecciones de datos.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793790" y="6096000"/>
            <a:ext cx="510302" cy="510302"/>
          </a:xfrm>
          <a:prstGeom prst="roundRect">
            <a:avLst>
              <a:gd name="adj" fmla="val 1792"/>
            </a:avLst>
          </a:prstGeom>
          <a:solidFill>
            <a:srgbClr val="8DE2D6"/>
          </a:solidFill>
          <a:ln w="7620">
            <a:solidFill>
              <a:srgbClr val="73C8B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45952" y="6181011"/>
            <a:ext cx="205859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3</a:t>
            </a:r>
            <a:endParaRPr lang="en-US" sz="2650" dirty="0"/>
          </a:p>
        </p:txBody>
      </p:sp>
      <p:sp>
        <p:nvSpPr>
          <p:cNvPr id="15" name="Text 13"/>
          <p:cNvSpPr/>
          <p:nvPr/>
        </p:nvSpPr>
        <p:spPr>
          <a:xfrm>
            <a:off x="1530906" y="6096000"/>
            <a:ext cx="535662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Conocer listas dinámicas (ArrayList)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530906" y="6586418"/>
            <a:ext cx="5670947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Descubriremos cómo manejar colecciones flexibles con ArrayList.</a:t>
            </a:r>
            <a:endParaRPr lang="en-US" sz="1750" dirty="0"/>
          </a:p>
        </p:txBody>
      </p:sp>
      <p:sp>
        <p:nvSpPr>
          <p:cNvPr id="17" name="Shape 15"/>
          <p:cNvSpPr/>
          <p:nvPr/>
        </p:nvSpPr>
        <p:spPr>
          <a:xfrm>
            <a:off x="7428667" y="6096000"/>
            <a:ext cx="510302" cy="510302"/>
          </a:xfrm>
          <a:prstGeom prst="roundRect">
            <a:avLst>
              <a:gd name="adj" fmla="val 1792"/>
            </a:avLst>
          </a:prstGeom>
          <a:solidFill>
            <a:srgbClr val="8DE2D6"/>
          </a:solidFill>
          <a:ln w="7620">
            <a:solidFill>
              <a:srgbClr val="73C8B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568565" y="6181011"/>
            <a:ext cx="230386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4</a:t>
            </a:r>
            <a:endParaRPr lang="en-US" sz="2650" dirty="0"/>
          </a:p>
        </p:txBody>
      </p:sp>
      <p:sp>
        <p:nvSpPr>
          <p:cNvPr id="19" name="Text 17"/>
          <p:cNvSpPr/>
          <p:nvPr/>
        </p:nvSpPr>
        <p:spPr>
          <a:xfrm>
            <a:off x="8165783" y="6096000"/>
            <a:ext cx="500526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Aplicar conocimientos en TechLab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8165783" y="6586418"/>
            <a:ext cx="5670947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Resolveremos problemas concretos del catálogo de productos.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02449" y="3324225"/>
            <a:ext cx="7825502" cy="9782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7700"/>
              </a:lnSpc>
              <a:buNone/>
            </a:pPr>
            <a:r>
              <a:rPr lang="en-US" sz="615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Manejo de Strings</a:t>
            </a:r>
            <a:endParaRPr lang="en-US" sz="6150" dirty="0"/>
          </a:p>
        </p:txBody>
      </p:sp>
      <p:sp>
        <p:nvSpPr>
          <p:cNvPr id="3" name="Shape 1"/>
          <p:cNvSpPr/>
          <p:nvPr/>
        </p:nvSpPr>
        <p:spPr>
          <a:xfrm>
            <a:off x="793790" y="4869451"/>
            <a:ext cx="13042821" cy="35957"/>
          </a:xfrm>
          <a:prstGeom prst="rect">
            <a:avLst/>
          </a:prstGeom>
          <a:solidFill>
            <a:srgbClr val="272525">
              <a:alpha val="50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213080" y="228600"/>
            <a:ext cx="1188720" cy="3644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56288" y="2569488"/>
            <a:ext cx="3090624" cy="309062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938570"/>
            <a:ext cx="93852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Manipulación de cadenas de caracteres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2809670"/>
            <a:ext cx="9385221" cy="35957"/>
          </a:xfrm>
          <a:prstGeom prst="rect">
            <a:avLst/>
          </a:prstGeom>
          <a:solidFill>
            <a:srgbClr val="272525">
              <a:alpha val="50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793790" y="3100745"/>
            <a:ext cx="93852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Las cadenas de caracteres (Strings) son uno de los tipos de datos más importantes y utilizados en Java. Para trabajar con ellas de manera efectiva, es fundamental entender sus características y métodos principales.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793790" y="4444603"/>
            <a:ext cx="93852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 aspecto crucial de las cadenas en Java es su inmutabilidad. Esto significa que una vez creada una cadena, su contenido </a:t>
            </a:r>
            <a:pPr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 puede modificarse</a:t>
            </a:r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 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793790" y="5425559"/>
            <a:ext cx="93852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¿Por qué es importante?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793790" y="6043613"/>
            <a:ext cx="93852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Garantiza seguridad en aplicaciones multihilo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793790" y="6485811"/>
            <a:ext cx="93852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Mejora el rendimiento del pool de strings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793790" y="6928009"/>
            <a:ext cx="93852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Previene modificaciones accidentales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D011"/>
          </a:solidFill>
          <a:ln/>
        </p:spPr>
      </p:sp>
      <p:sp>
        <p:nvSpPr>
          <p:cNvPr id="3" name="Text 1"/>
          <p:cNvSpPr/>
          <p:nvPr/>
        </p:nvSpPr>
        <p:spPr>
          <a:xfrm>
            <a:off x="793790" y="1350407"/>
            <a:ext cx="5444490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Ejemplo: Inmutabilidad</a:t>
            </a:r>
            <a:endParaRPr lang="en-US" sz="3550" dirty="0"/>
          </a:p>
        </p:txBody>
      </p:sp>
      <p:sp>
        <p:nvSpPr>
          <p:cNvPr id="4" name="Shape 2"/>
          <p:cNvSpPr/>
          <p:nvPr/>
        </p:nvSpPr>
        <p:spPr>
          <a:xfrm>
            <a:off x="793790" y="2285914"/>
            <a:ext cx="13042821" cy="35957"/>
          </a:xfrm>
          <a:prstGeom prst="rect">
            <a:avLst/>
          </a:prstGeom>
          <a:solidFill>
            <a:srgbClr val="272525">
              <a:alpha val="5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793790" y="3469362"/>
            <a:ext cx="6244709" cy="2517458"/>
          </a:xfrm>
          <a:prstGeom prst="roundRect">
            <a:avLst>
              <a:gd name="adj" fmla="val 363"/>
            </a:avLst>
          </a:prstGeom>
          <a:solidFill>
            <a:srgbClr val="D6F5F0"/>
          </a:solidFill>
          <a:ln/>
        </p:spPr>
      </p:sp>
      <p:sp>
        <p:nvSpPr>
          <p:cNvPr id="6" name="Shape 4"/>
          <p:cNvSpPr/>
          <p:nvPr/>
        </p:nvSpPr>
        <p:spPr>
          <a:xfrm>
            <a:off x="782479" y="3469362"/>
            <a:ext cx="6267331" cy="2517458"/>
          </a:xfrm>
          <a:prstGeom prst="roundRect">
            <a:avLst>
              <a:gd name="adj" fmla="val 1352"/>
            </a:avLst>
          </a:prstGeom>
          <a:solidFill>
            <a:srgbClr val="D6F5F0"/>
          </a:solidFill>
          <a:ln/>
        </p:spPr>
      </p:sp>
      <p:sp>
        <p:nvSpPr>
          <p:cNvPr id="7" name="Text 5"/>
          <p:cNvSpPr/>
          <p:nvPr/>
        </p:nvSpPr>
        <p:spPr>
          <a:xfrm>
            <a:off x="1009293" y="3639383"/>
            <a:ext cx="5813703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highlight>
                  <a:srgbClr val="D6F5F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String nombre = "Juan";</a:t>
            </a:r>
            <a:endParaRPr lang="en-US" sz="1750" dirty="0"/>
          </a:p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highlight>
                  <a:srgbClr val="D6F5F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nombre.toUpperCase();</a:t>
            </a:r>
            <a:endParaRPr lang="en-US" sz="1750" dirty="0"/>
          </a:p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highlight>
                  <a:srgbClr val="D6F5F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// nombre sigue siendo "Juan"</a:t>
            </a:r>
            <a:endParaRPr lang="en-US" sz="1750" dirty="0"/>
          </a:p>
          <a:p>
            <a:pPr indent="0" marL="0">
              <a:lnSpc>
                <a:spcPts val="2850"/>
              </a:lnSpc>
              <a:buNone/>
            </a:pPr>
            <a:endParaRPr lang="en-US" sz="1750" dirty="0"/>
          </a:p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highlight>
                  <a:srgbClr val="D6F5F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nombre = nombre.toUpperCase();</a:t>
            </a:r>
            <a:endParaRPr lang="en-US" sz="1750" dirty="0"/>
          </a:p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highlight>
                  <a:srgbClr val="D6F5F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// Ahora sí, nombre es "JUAN"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599521" y="2781062"/>
            <a:ext cx="6244709" cy="18449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 método </a:t>
            </a:r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highlight>
                  <a:srgbClr val="D6F5F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.toUpperCase()</a:t>
            </a:r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devuelve una nueva cadena en mayúsculas, pero no modifica el objeto original. Como no asignas el resultado a una variable, el nuevo objeto </a:t>
            </a:r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highlight>
                  <a:srgbClr val="D6F5F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"JUAN"</a:t>
            </a:r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creado es descartado, y </a:t>
            </a:r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highlight>
                  <a:srgbClr val="D6F5F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nombre</a:t>
            </a:r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sigue apuntando al </a:t>
            </a:r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highlight>
                  <a:srgbClr val="D6F5F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original </a:t>
            </a:r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highlight>
                  <a:srgbClr val="D6F5F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"Juan"</a:t>
            </a:r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599521" y="4830128"/>
            <a:ext cx="6244709" cy="18449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Ahora, el resultado del método </a:t>
            </a:r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highlight>
                  <a:srgbClr val="D6F5F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.toUpperCase()</a:t>
            </a:r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(es decir, el nuevo objeto </a:t>
            </a:r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highlight>
                  <a:srgbClr val="D6F5F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"JUAN"</a:t>
            </a:r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) se asigna a la variable </a:t>
            </a:r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highlight>
                  <a:srgbClr val="D6F5F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nombre</a:t>
            </a:r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 Esto hace que </a:t>
            </a:r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highlight>
                  <a:srgbClr val="D6F5F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nombre</a:t>
            </a:r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apunte al nuevo objeto, mientras que el objeto original </a:t>
            </a:r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highlight>
                  <a:srgbClr val="D6F5F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"Juan"</a:t>
            </a:r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permanece sin cambios (aunque ya no es accesible desde esta variable).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D011"/>
          </a:solidFill>
          <a:ln/>
        </p:spPr>
      </p:sp>
      <p:sp>
        <p:nvSpPr>
          <p:cNvPr id="3" name="Text 1"/>
          <p:cNvSpPr/>
          <p:nvPr/>
        </p:nvSpPr>
        <p:spPr>
          <a:xfrm>
            <a:off x="793790" y="2296597"/>
            <a:ext cx="10354151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Ejemplo: formateo de nombres de productos</a:t>
            </a:r>
            <a:endParaRPr lang="en-US" sz="3550" dirty="0"/>
          </a:p>
        </p:txBody>
      </p:sp>
      <p:sp>
        <p:nvSpPr>
          <p:cNvPr id="4" name="Shape 2"/>
          <p:cNvSpPr/>
          <p:nvPr/>
        </p:nvSpPr>
        <p:spPr>
          <a:xfrm>
            <a:off x="793790" y="3232104"/>
            <a:ext cx="13042821" cy="35957"/>
          </a:xfrm>
          <a:prstGeom prst="rect">
            <a:avLst/>
          </a:prstGeom>
          <a:solidFill>
            <a:srgbClr val="272525">
              <a:alpha val="5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93790" y="3523178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Este proceso elimina espacios extras y estandariza las mayúsculas/minúsculas.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793790" y="4141232"/>
            <a:ext cx="13042821" cy="1791652"/>
          </a:xfrm>
          <a:prstGeom prst="roundRect">
            <a:avLst>
              <a:gd name="adj" fmla="val 510"/>
            </a:avLst>
          </a:prstGeom>
          <a:solidFill>
            <a:srgbClr val="D6F5F0"/>
          </a:solidFill>
          <a:ln/>
        </p:spPr>
      </p:sp>
      <p:sp>
        <p:nvSpPr>
          <p:cNvPr id="7" name="Shape 5"/>
          <p:cNvSpPr/>
          <p:nvPr/>
        </p:nvSpPr>
        <p:spPr>
          <a:xfrm>
            <a:off x="782479" y="4141232"/>
            <a:ext cx="13065443" cy="1791652"/>
          </a:xfrm>
          <a:prstGeom prst="roundRect">
            <a:avLst>
              <a:gd name="adj" fmla="val 1899"/>
            </a:avLst>
          </a:prstGeom>
          <a:solidFill>
            <a:srgbClr val="D6F5F0"/>
          </a:solidFill>
          <a:ln/>
        </p:spPr>
      </p:sp>
      <p:sp>
        <p:nvSpPr>
          <p:cNvPr id="8" name="Text 6"/>
          <p:cNvSpPr/>
          <p:nvPr/>
        </p:nvSpPr>
        <p:spPr>
          <a:xfrm>
            <a:off x="1009293" y="4311253"/>
            <a:ext cx="12611814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highlight>
                  <a:srgbClr val="D6F5F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String producto = " Café Premium MOLIDO ";
producto = producto.trim().toLowerCase();
// Resultado: "café premium molido"
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0334" y="780336"/>
            <a:ext cx="5705475" cy="687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400"/>
              </a:lnSpc>
              <a:buNone/>
            </a:pPr>
            <a:r>
              <a:rPr lang="en-US" sz="43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Formateo avanzado</a:t>
            </a:r>
            <a:endParaRPr lang="en-US" sz="4300" dirty="0"/>
          </a:p>
        </p:txBody>
      </p:sp>
      <p:sp>
        <p:nvSpPr>
          <p:cNvPr id="3" name="Text 1"/>
          <p:cNvSpPr/>
          <p:nvPr/>
        </p:nvSpPr>
        <p:spPr>
          <a:xfrm>
            <a:off x="770334" y="1798201"/>
            <a:ext cx="13089731" cy="352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Este método procesa nombres de productos aplicando las siguientes transformaciones: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770334" y="2595920"/>
            <a:ext cx="5594985" cy="7043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1700" b="1" dirty="0">
                <a:solidFill>
                  <a:srgbClr val="27252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Entrada:</a:t>
            </a:r>
            <a:pPr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Recibe un String que puede contener espacios extras y mezcla de mayúsculas/minúsculas.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70334" y="3498294"/>
            <a:ext cx="5594985" cy="105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1700" b="1" dirty="0">
                <a:solidFill>
                  <a:srgbClr val="27252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Salida:</a:t>
            </a:r>
            <a:pPr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Devuelve un String donde cada palabra comienza con mayúscula y el resto en minúscula (formato Title Case).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70334" y="4752856"/>
            <a:ext cx="5594985" cy="352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1700" b="1" dirty="0">
                <a:solidFill>
                  <a:srgbClr val="27252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Ejemplo: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70334" y="5303044"/>
            <a:ext cx="5594985" cy="352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ts val="2750"/>
              </a:lnSpc>
              <a:buSzPct val="100000"/>
              <a:buChar char="•"/>
            </a:pPr>
            <a:r>
              <a:rPr lang="en-US" sz="1700" dirty="0">
                <a:solidFill>
                  <a:srgbClr val="27252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Entrada: "caFÉ PREMIUM molido"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70334" y="5732264"/>
            <a:ext cx="5594985" cy="352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ts val="2750"/>
              </a:lnSpc>
              <a:buSzPct val="100000"/>
              <a:buChar char="•"/>
            </a:pPr>
            <a:r>
              <a:rPr lang="en-US" sz="1700" dirty="0">
                <a:solidFill>
                  <a:srgbClr val="27252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Salida: "Café Premium Molido"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909911" y="2645450"/>
            <a:ext cx="6957655" cy="4556284"/>
          </a:xfrm>
          <a:prstGeom prst="roundRect">
            <a:avLst>
              <a:gd name="adj" fmla="val 201"/>
            </a:avLst>
          </a:prstGeom>
          <a:solidFill>
            <a:srgbClr val="D6F5F0"/>
          </a:solidFill>
          <a:ln/>
        </p:spPr>
      </p:sp>
      <p:sp>
        <p:nvSpPr>
          <p:cNvPr id="10" name="Shape 8"/>
          <p:cNvSpPr/>
          <p:nvPr/>
        </p:nvSpPr>
        <p:spPr>
          <a:xfrm>
            <a:off x="6898957" y="2645450"/>
            <a:ext cx="6979563" cy="4556284"/>
          </a:xfrm>
          <a:prstGeom prst="roundRect">
            <a:avLst>
              <a:gd name="adj" fmla="val 725"/>
            </a:avLst>
          </a:prstGeom>
          <a:solidFill>
            <a:srgbClr val="D6F5F0"/>
          </a:solidFill>
          <a:ln/>
        </p:spPr>
      </p:sp>
      <p:sp>
        <p:nvSpPr>
          <p:cNvPr id="11" name="Text 9"/>
          <p:cNvSpPr/>
          <p:nvPr/>
        </p:nvSpPr>
        <p:spPr>
          <a:xfrm>
            <a:off x="7118985" y="2810470"/>
            <a:ext cx="6539508" cy="42262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272525"/>
                </a:solidFill>
                <a:highlight>
                  <a:srgbClr val="D6F5F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public static String formatearNombreProducto(String nombre) {</a:t>
            </a:r>
            <a:endParaRPr lang="en-US" sz="1700" dirty="0"/>
          </a:p>
          <a:p>
            <a:pPr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272525"/>
                </a:solidFill>
                <a:highlight>
                  <a:srgbClr val="D6F5F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nombre = nombre.trim().toLowerCase();</a:t>
            </a:r>
            <a:endParaRPr lang="en-US" sz="1700" dirty="0"/>
          </a:p>
          <a:p>
            <a:pPr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272525"/>
                </a:solidFill>
                <a:highlight>
                  <a:srgbClr val="D6F5F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String[] palabras = nombre.split(" ");</a:t>
            </a:r>
            <a:endParaRPr lang="en-US" sz="1700" dirty="0"/>
          </a:p>
          <a:p>
            <a:pPr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272525"/>
                </a:solidFill>
                <a:highlight>
                  <a:srgbClr val="D6F5F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StringBuilder sb = new StringBuilder();</a:t>
            </a:r>
            <a:endParaRPr lang="en-US" sz="1700" dirty="0"/>
          </a:p>
          <a:p>
            <a:pPr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272525"/>
                </a:solidFill>
                <a:highlight>
                  <a:srgbClr val="D6F5F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(String palabra : palabras) {</a:t>
            </a:r>
            <a:endParaRPr lang="en-US" sz="1700" dirty="0"/>
          </a:p>
          <a:p>
            <a:pPr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272525"/>
                </a:solidFill>
                <a:highlight>
                  <a:srgbClr val="D6F5F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(!palabra.isEmpty()) {</a:t>
            </a:r>
            <a:endParaRPr lang="en-US" sz="1700" dirty="0"/>
          </a:p>
          <a:p>
            <a:pPr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272525"/>
                </a:solidFill>
                <a:highlight>
                  <a:srgbClr val="D6F5F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sb.append(Character.toUpperCase(palabra.charAt(0)))           .append(palabra.substring(1)).append(" ");</a:t>
            </a:r>
            <a:endParaRPr lang="en-US" sz="1700" dirty="0"/>
          </a:p>
          <a:p>
            <a:pPr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272525"/>
                </a:solidFill>
                <a:highlight>
                  <a:srgbClr val="D6F5F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</a:t>
            </a:r>
            <a:endParaRPr lang="en-US" sz="1700" dirty="0"/>
          </a:p>
          <a:p>
            <a:pPr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272525"/>
                </a:solidFill>
                <a:highlight>
                  <a:srgbClr val="D6F5F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700" dirty="0"/>
          </a:p>
          <a:p>
            <a:pPr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272525"/>
                </a:solidFill>
                <a:highlight>
                  <a:srgbClr val="D6F5F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sb.toString().trim();</a:t>
            </a:r>
            <a:endParaRPr lang="en-US" sz="1700" dirty="0"/>
          </a:p>
          <a:p>
            <a:pPr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272525"/>
                </a:solidFill>
                <a:highlight>
                  <a:srgbClr val="D6F5F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7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213080" y="228600"/>
            <a:ext cx="1188720" cy="3644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02449" y="3324225"/>
            <a:ext cx="7825502" cy="9782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7700"/>
              </a:lnSpc>
              <a:buNone/>
            </a:pPr>
            <a:r>
              <a:rPr lang="en-US" sz="615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Arrays</a:t>
            </a:r>
            <a:endParaRPr lang="en-US" sz="6150" dirty="0"/>
          </a:p>
        </p:txBody>
      </p:sp>
      <p:sp>
        <p:nvSpPr>
          <p:cNvPr id="3" name="Shape 1"/>
          <p:cNvSpPr/>
          <p:nvPr/>
        </p:nvSpPr>
        <p:spPr>
          <a:xfrm>
            <a:off x="793790" y="4869451"/>
            <a:ext cx="13042821" cy="35957"/>
          </a:xfrm>
          <a:prstGeom prst="rect">
            <a:avLst/>
          </a:prstGeom>
          <a:solidFill>
            <a:srgbClr val="272525">
              <a:alpha val="50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213080" y="228600"/>
            <a:ext cx="1188720" cy="36445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27488" y="1655088"/>
            <a:ext cx="4919424" cy="491942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356241"/>
            <a:ext cx="633543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Introducción a Arrays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2405182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Los arrays son una estructura de datos fundamental en Java que nos permite almacenar múltiples elementos del mismo tipo en una única variable. Se declara con un tipo, seguido de [], por ejemplo:</a:t>
            </a:r>
            <a:endParaRPr lang="en-US" sz="1750" dirty="0"/>
          </a:p>
        </p:txBody>
      </p:sp>
      <p:sp>
        <p:nvSpPr>
          <p:cNvPr id="5" name="Shape 2"/>
          <p:cNvSpPr/>
          <p:nvPr/>
        </p:nvSpPr>
        <p:spPr>
          <a:xfrm>
            <a:off x="793790" y="3749040"/>
            <a:ext cx="7556421" cy="1791652"/>
          </a:xfrm>
          <a:prstGeom prst="roundRect">
            <a:avLst>
              <a:gd name="adj" fmla="val 510"/>
            </a:avLst>
          </a:prstGeom>
          <a:solidFill>
            <a:srgbClr val="D6F5F0"/>
          </a:solidFill>
          <a:ln/>
        </p:spPr>
      </p:sp>
      <p:sp>
        <p:nvSpPr>
          <p:cNvPr id="6" name="Shape 3"/>
          <p:cNvSpPr/>
          <p:nvPr/>
        </p:nvSpPr>
        <p:spPr>
          <a:xfrm>
            <a:off x="782479" y="3749040"/>
            <a:ext cx="7579043" cy="1791652"/>
          </a:xfrm>
          <a:prstGeom prst="roundRect">
            <a:avLst>
              <a:gd name="adj" fmla="val 1899"/>
            </a:avLst>
          </a:prstGeom>
          <a:solidFill>
            <a:srgbClr val="D6F5F0"/>
          </a:solidFill>
          <a:ln/>
        </p:spPr>
      </p:sp>
      <p:sp>
        <p:nvSpPr>
          <p:cNvPr id="7" name="Text 4"/>
          <p:cNvSpPr/>
          <p:nvPr/>
        </p:nvSpPr>
        <p:spPr>
          <a:xfrm>
            <a:off x="1009293" y="3919061"/>
            <a:ext cx="7125414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highlight>
                  <a:srgbClr val="D6F5F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String[] productos = new String[3];</a:t>
            </a:r>
            <a:endParaRPr lang="en-US" sz="1750" dirty="0"/>
          </a:p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highlight>
                  <a:srgbClr val="D6F5F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productos[0] = "Café Premium Molido";</a:t>
            </a:r>
            <a:endParaRPr lang="en-US" sz="1750" dirty="0"/>
          </a:p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highlight>
                  <a:srgbClr val="D6F5F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productos[1] = "Té Verde Orgánico";</a:t>
            </a:r>
            <a:endParaRPr lang="en-US" sz="1750" dirty="0"/>
          </a:p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highlight>
                  <a:srgbClr val="D6F5F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productos[2] = "Chocolate Amargo 80%";</a:t>
            </a:r>
            <a:endParaRPr lang="en-US" sz="17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6865" y="5795843"/>
            <a:ext cx="4070271" cy="107751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417558"/>
          </a:xfrm>
          <a:prstGeom prst="rect">
            <a:avLst/>
          </a:prstGeom>
          <a:solidFill>
            <a:srgbClr val="FFD011"/>
          </a:solidFill>
          <a:ln/>
        </p:spPr>
      </p:sp>
      <p:sp>
        <p:nvSpPr>
          <p:cNvPr id="3" name="Text 1"/>
          <p:cNvSpPr/>
          <p:nvPr/>
        </p:nvSpPr>
        <p:spPr>
          <a:xfrm>
            <a:off x="793790" y="2207300"/>
            <a:ext cx="845248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Características de los Arrays</a:t>
            </a:r>
            <a:endParaRPr lang="en-US" sz="4450" dirty="0"/>
          </a:p>
        </p:txBody>
      </p:sp>
      <p:sp>
        <p:nvSpPr>
          <p:cNvPr id="4" name="Shape 2"/>
          <p:cNvSpPr/>
          <p:nvPr/>
        </p:nvSpPr>
        <p:spPr>
          <a:xfrm>
            <a:off x="793790" y="3369621"/>
            <a:ext cx="13042821" cy="35957"/>
          </a:xfrm>
          <a:prstGeom prst="rect">
            <a:avLst/>
          </a:prstGeom>
          <a:solidFill>
            <a:srgbClr val="272525">
              <a:alpha val="5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793790" y="3915847"/>
            <a:ext cx="510302" cy="510302"/>
          </a:xfrm>
          <a:prstGeom prst="roundRect">
            <a:avLst>
              <a:gd name="adj" fmla="val 1792"/>
            </a:avLst>
          </a:prstGeom>
          <a:solidFill>
            <a:srgbClr val="8DE2D6"/>
          </a:solidFill>
          <a:ln w="7620">
            <a:solidFill>
              <a:srgbClr val="73C8B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4885" y="4000857"/>
            <a:ext cx="127992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1</a:t>
            </a:r>
            <a:endParaRPr lang="en-US" sz="2650" dirty="0"/>
          </a:p>
        </p:txBody>
      </p:sp>
      <p:sp>
        <p:nvSpPr>
          <p:cNvPr id="7" name="Text 5"/>
          <p:cNvSpPr/>
          <p:nvPr/>
        </p:nvSpPr>
        <p:spPr>
          <a:xfrm>
            <a:off x="1530906" y="3915847"/>
            <a:ext cx="344352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Estructura de Datos Fija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530906" y="4406265"/>
            <a:ext cx="5670947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Los arrays tienen un tamaño fijo una vez creados. Por ejemplo, si creamos un array de 5 elementos, este tamaño no podrá modificarse durante la ejecución del programa. 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7428667" y="3915847"/>
            <a:ext cx="510302" cy="510302"/>
          </a:xfrm>
          <a:prstGeom prst="roundRect">
            <a:avLst>
              <a:gd name="adj" fmla="val 1792"/>
            </a:avLst>
          </a:prstGeom>
          <a:solidFill>
            <a:srgbClr val="8DE2D6"/>
          </a:solidFill>
          <a:ln w="7620">
            <a:solidFill>
              <a:srgbClr val="73C8B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586663" y="4000857"/>
            <a:ext cx="194310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2</a:t>
            </a:r>
            <a:endParaRPr lang="en-US" sz="2650" dirty="0"/>
          </a:p>
        </p:txBody>
      </p:sp>
      <p:sp>
        <p:nvSpPr>
          <p:cNvPr id="11" name="Text 9"/>
          <p:cNvSpPr/>
          <p:nvPr/>
        </p:nvSpPr>
        <p:spPr>
          <a:xfrm>
            <a:off x="8165783" y="3915847"/>
            <a:ext cx="339828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Declaración y Creación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8165783" y="4406265"/>
            <a:ext cx="5670947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 declaran con un tipo seguido de [], ejemplo: String[]. La creación puede ser directa o mediante new.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793790" y="6113026"/>
            <a:ext cx="13042821" cy="1326713"/>
          </a:xfrm>
          <a:prstGeom prst="roundRect">
            <a:avLst>
              <a:gd name="adj" fmla="val 689"/>
            </a:avLst>
          </a:prstGeom>
          <a:solidFill>
            <a:srgbClr val="B6D6FC"/>
          </a:solidFill>
          <a:ln/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0604" y="6457117"/>
            <a:ext cx="283488" cy="226814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530906" y="6396514"/>
            <a:ext cx="1207889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Comprender estas características es esencial para decidir cuándo usar arrays y cuándo considerar estructuras de datos más flexibles como ArrayList.</a:t>
            </a:r>
            <a:endParaRPr lang="en-US" sz="1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D011"/>
          </a:solidFill>
          <a:ln/>
        </p:spPr>
      </p:sp>
      <p:sp>
        <p:nvSpPr>
          <p:cNvPr id="3" name="Text 1"/>
          <p:cNvSpPr/>
          <p:nvPr/>
        </p:nvSpPr>
        <p:spPr>
          <a:xfrm>
            <a:off x="735925" y="747832"/>
            <a:ext cx="5256848" cy="656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150"/>
              </a:lnSpc>
              <a:buNone/>
            </a:pPr>
            <a:r>
              <a:rPr lang="en-US" sz="41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Ejemplo de Array.</a:t>
            </a:r>
            <a:endParaRPr lang="en-US" sz="4100" dirty="0"/>
          </a:p>
        </p:txBody>
      </p:sp>
      <p:sp>
        <p:nvSpPr>
          <p:cNvPr id="4" name="Shape 2"/>
          <p:cNvSpPr/>
          <p:nvPr/>
        </p:nvSpPr>
        <p:spPr>
          <a:xfrm>
            <a:off x="735925" y="1825291"/>
            <a:ext cx="13158549" cy="33814"/>
          </a:xfrm>
          <a:prstGeom prst="rect">
            <a:avLst/>
          </a:prstGeom>
          <a:solidFill>
            <a:srgbClr val="272525">
              <a:alpha val="5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35925" y="2095500"/>
            <a:ext cx="13158549" cy="336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Este código muestra cómo crear y recorrer un array de productos.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735925" y="2904768"/>
            <a:ext cx="6322814" cy="3342442"/>
          </a:xfrm>
          <a:prstGeom prst="roundRect">
            <a:avLst>
              <a:gd name="adj" fmla="val 274"/>
            </a:avLst>
          </a:prstGeom>
          <a:solidFill>
            <a:srgbClr val="D6F5F0"/>
          </a:solidFill>
          <a:ln/>
        </p:spPr>
      </p:sp>
      <p:sp>
        <p:nvSpPr>
          <p:cNvPr id="7" name="Shape 5"/>
          <p:cNvSpPr/>
          <p:nvPr/>
        </p:nvSpPr>
        <p:spPr>
          <a:xfrm>
            <a:off x="725448" y="2904768"/>
            <a:ext cx="6343769" cy="3342442"/>
          </a:xfrm>
          <a:prstGeom prst="roundRect">
            <a:avLst>
              <a:gd name="adj" fmla="val 944"/>
            </a:avLst>
          </a:prstGeom>
          <a:solidFill>
            <a:srgbClr val="D6F5F0"/>
          </a:solidFill>
          <a:ln/>
        </p:spPr>
      </p:sp>
      <p:sp>
        <p:nvSpPr>
          <p:cNvPr id="8" name="Text 6"/>
          <p:cNvSpPr/>
          <p:nvPr/>
        </p:nvSpPr>
        <p:spPr>
          <a:xfrm>
            <a:off x="935712" y="3062407"/>
            <a:ext cx="5923240" cy="30271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1650" dirty="0">
                <a:solidFill>
                  <a:srgbClr val="272525"/>
                </a:solidFill>
                <a:highlight>
                  <a:srgbClr val="D6F5F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String[] productos = new String[3];
productos[0] = "Café Premium Molido";
productos[1] = "Té Verde Orgánico";
productos[2] = "Chocolate Amargo 80%";
for (int i = 0; i &lt; productos.length; i++) {
    System.out.println("Producto: " + productos[i]);
}
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7579281" y="2741890"/>
            <a:ext cx="6322814" cy="680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600"/>
              </a:lnSpc>
              <a:buSzPct val="100000"/>
              <a:buFont typeface="+mj-lt"/>
              <a:buAutoNum type="arabicPeriod" startAt="1"/>
            </a:pPr>
            <a:r>
              <a:rPr lang="en-US" sz="1650" dirty="0">
                <a:solidFill>
                  <a:srgbClr val="27252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 declara un arreglo de </a:t>
            </a:r>
            <a:pPr indent="0" marL="0">
              <a:lnSpc>
                <a:spcPts val="2600"/>
              </a:lnSpc>
              <a:buNone/>
            </a:pPr>
            <a:r>
              <a:rPr lang="en-US" sz="1650" dirty="0">
                <a:solidFill>
                  <a:srgbClr val="272525"/>
                </a:solidFill>
                <a:highlight>
                  <a:srgbClr val="D6F5F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pPr indent="0" marL="0">
              <a:lnSpc>
                <a:spcPts val="260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llamado </a:t>
            </a:r>
            <a:pPr indent="0" marL="0">
              <a:lnSpc>
                <a:spcPts val="2600"/>
              </a:lnSpc>
              <a:buNone/>
            </a:pPr>
            <a:r>
              <a:rPr lang="en-US" sz="1650" dirty="0">
                <a:solidFill>
                  <a:srgbClr val="272525"/>
                </a:solidFill>
                <a:highlight>
                  <a:srgbClr val="D6F5F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productos</a:t>
            </a:r>
            <a:pPr indent="0" marL="0">
              <a:lnSpc>
                <a:spcPts val="260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con 3 posiciones.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7579281" y="3495794"/>
            <a:ext cx="6322814" cy="336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ts val="2600"/>
              </a:lnSpc>
              <a:buSzPct val="100000"/>
              <a:buFont typeface="+mj-lt"/>
              <a:buAutoNum type="arabicPeriod" startAt="2"/>
            </a:pPr>
            <a:r>
              <a:rPr lang="en-US" sz="1650" dirty="0">
                <a:solidFill>
                  <a:srgbClr val="27252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 asignan nombres de productos a las posiciones del arreglo.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7579281" y="3905726"/>
            <a:ext cx="6322814" cy="680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600"/>
              </a:lnSpc>
              <a:buSzPct val="100000"/>
              <a:buFont typeface="+mj-lt"/>
              <a:buAutoNum type="arabicPeriod" startAt="3"/>
            </a:pPr>
            <a:r>
              <a:rPr lang="en-US" sz="1650" dirty="0">
                <a:solidFill>
                  <a:srgbClr val="27252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 usa un bucle </a:t>
            </a:r>
            <a:pPr indent="0" marL="0">
              <a:lnSpc>
                <a:spcPts val="2600"/>
              </a:lnSpc>
              <a:buNone/>
            </a:pPr>
            <a:r>
              <a:rPr lang="en-US" sz="1650" dirty="0">
                <a:solidFill>
                  <a:srgbClr val="272525"/>
                </a:solidFill>
                <a:highlight>
                  <a:srgbClr val="D6F5F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indent="0" marL="0">
              <a:lnSpc>
                <a:spcPts val="260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para recorrer el arreglo e imprimir cada producto.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7579281" y="4775240"/>
            <a:ext cx="6322814" cy="336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1650" b="1" dirty="0">
                <a:solidFill>
                  <a:srgbClr val="27252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Salida esperada: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7579281" y="5348049"/>
            <a:ext cx="6322814" cy="1324332"/>
          </a:xfrm>
          <a:prstGeom prst="roundRect">
            <a:avLst>
              <a:gd name="adj" fmla="val 690"/>
            </a:avLst>
          </a:prstGeom>
          <a:solidFill>
            <a:srgbClr val="D6F5F0"/>
          </a:solidFill>
          <a:ln/>
        </p:spPr>
      </p:sp>
      <p:sp>
        <p:nvSpPr>
          <p:cNvPr id="14" name="Shape 12"/>
          <p:cNvSpPr/>
          <p:nvPr/>
        </p:nvSpPr>
        <p:spPr>
          <a:xfrm>
            <a:off x="7568803" y="5348049"/>
            <a:ext cx="6343769" cy="1324332"/>
          </a:xfrm>
          <a:prstGeom prst="roundRect">
            <a:avLst>
              <a:gd name="adj" fmla="val 2382"/>
            </a:avLst>
          </a:prstGeom>
          <a:solidFill>
            <a:srgbClr val="D6F5F0"/>
          </a:solidFill>
          <a:ln/>
        </p:spPr>
      </p:sp>
      <p:sp>
        <p:nvSpPr>
          <p:cNvPr id="15" name="Text 13"/>
          <p:cNvSpPr/>
          <p:nvPr/>
        </p:nvSpPr>
        <p:spPr>
          <a:xfrm>
            <a:off x="7779068" y="5505688"/>
            <a:ext cx="5923240" cy="10090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1650" dirty="0">
                <a:solidFill>
                  <a:srgbClr val="272525"/>
                </a:solidFill>
                <a:highlight>
                  <a:srgbClr val="D6F5F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Producto: Café Premium Molido</a:t>
            </a:r>
            <a:endParaRPr lang="en-US" sz="165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650" dirty="0">
                <a:solidFill>
                  <a:srgbClr val="272525"/>
                </a:solidFill>
                <a:highlight>
                  <a:srgbClr val="D6F5F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Producto: Té Verde Orgánico</a:t>
            </a:r>
            <a:endParaRPr lang="en-US" sz="165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650" dirty="0">
                <a:solidFill>
                  <a:srgbClr val="272525"/>
                </a:solidFill>
                <a:highlight>
                  <a:srgbClr val="D6F5F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Producto: Chocolate Amargo 80%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735925" y="7145298"/>
            <a:ext cx="13158549" cy="336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endParaRPr lang="en-US" sz="16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02449" y="3324225"/>
            <a:ext cx="7825502" cy="9782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7700"/>
              </a:lnSpc>
              <a:buNone/>
            </a:pPr>
            <a:r>
              <a:rPr lang="en-US" sz="615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ArrayList</a:t>
            </a:r>
            <a:endParaRPr lang="en-US" sz="6150" dirty="0"/>
          </a:p>
        </p:txBody>
      </p:sp>
      <p:sp>
        <p:nvSpPr>
          <p:cNvPr id="3" name="Shape 1"/>
          <p:cNvSpPr/>
          <p:nvPr/>
        </p:nvSpPr>
        <p:spPr>
          <a:xfrm>
            <a:off x="793790" y="4869451"/>
            <a:ext cx="13042821" cy="35957"/>
          </a:xfrm>
          <a:prstGeom prst="rect">
            <a:avLst/>
          </a:prstGeom>
          <a:solidFill>
            <a:srgbClr val="272525">
              <a:alpha val="50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213080" y="228600"/>
            <a:ext cx="1188720" cy="36445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0" y="0"/>
            <a:ext cx="3657600" cy="8229600"/>
          </a:xfrm>
          <a:prstGeom prst="rect">
            <a:avLst/>
          </a:prstGeom>
          <a:solidFill>
            <a:srgbClr val="FFD011"/>
          </a:solidFill>
          <a:ln/>
        </p:spPr>
      </p:sp>
      <p:sp>
        <p:nvSpPr>
          <p:cNvPr id="3" name="Text 1"/>
          <p:cNvSpPr/>
          <p:nvPr/>
        </p:nvSpPr>
        <p:spPr>
          <a:xfrm>
            <a:off x="793790" y="891778"/>
            <a:ext cx="716327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Introducción a ArrayList.</a:t>
            </a:r>
            <a:endParaRPr lang="en-US" sz="4450" dirty="0"/>
          </a:p>
        </p:txBody>
      </p:sp>
      <p:sp>
        <p:nvSpPr>
          <p:cNvPr id="4" name="Shape 2"/>
          <p:cNvSpPr/>
          <p:nvPr/>
        </p:nvSpPr>
        <p:spPr>
          <a:xfrm>
            <a:off x="793790" y="2054100"/>
            <a:ext cx="9385221" cy="35957"/>
          </a:xfrm>
          <a:prstGeom prst="rect">
            <a:avLst/>
          </a:prstGeom>
          <a:solidFill>
            <a:srgbClr val="272525">
              <a:alpha val="5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93790" y="2345174"/>
            <a:ext cx="93852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ArrayList es una lista dinámica que crece o decrece según necesidad.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1118711" y="2963228"/>
            <a:ext cx="30480" cy="4374475"/>
          </a:xfrm>
          <a:prstGeom prst="roundRect">
            <a:avLst>
              <a:gd name="adj" fmla="val 30000"/>
            </a:avLst>
          </a:prstGeom>
          <a:solidFill>
            <a:srgbClr val="D8D4D4"/>
          </a:solidFill>
          <a:ln/>
        </p:spPr>
      </p:sp>
      <p:sp>
        <p:nvSpPr>
          <p:cNvPr id="7" name="Shape 5"/>
          <p:cNvSpPr/>
          <p:nvPr/>
        </p:nvSpPr>
        <p:spPr>
          <a:xfrm>
            <a:off x="1358622" y="3458289"/>
            <a:ext cx="793790" cy="30480"/>
          </a:xfrm>
          <a:prstGeom prst="roundRect">
            <a:avLst>
              <a:gd name="adj" fmla="val 30000"/>
            </a:avLst>
          </a:prstGeom>
          <a:solidFill>
            <a:srgbClr val="E2D27F"/>
          </a:solidFill>
          <a:ln/>
        </p:spPr>
      </p:sp>
      <p:sp>
        <p:nvSpPr>
          <p:cNvPr id="8" name="Shape 6"/>
          <p:cNvSpPr/>
          <p:nvPr/>
        </p:nvSpPr>
        <p:spPr>
          <a:xfrm>
            <a:off x="878800" y="3218378"/>
            <a:ext cx="510302" cy="510302"/>
          </a:xfrm>
          <a:prstGeom prst="roundRect">
            <a:avLst>
              <a:gd name="adj" fmla="val 1792"/>
            </a:avLst>
          </a:prstGeom>
          <a:solidFill>
            <a:srgbClr val="FCEC99"/>
          </a:solidFill>
          <a:ln w="7620">
            <a:solidFill>
              <a:srgbClr val="E2D27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69896" y="3303389"/>
            <a:ext cx="127992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1</a:t>
            </a:r>
            <a:endParaRPr lang="en-US" sz="2650" dirty="0"/>
          </a:p>
        </p:txBody>
      </p:sp>
      <p:sp>
        <p:nvSpPr>
          <p:cNvPr id="10" name="Text 8"/>
          <p:cNvSpPr/>
          <p:nvPr/>
        </p:nvSpPr>
        <p:spPr>
          <a:xfrm>
            <a:off x="2381488" y="319004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Métodos Útiles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381488" y="3680460"/>
            <a:ext cx="779752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Ofrece add(), remove(), get() para manejar elementos fácilmente.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1358622" y="4992053"/>
            <a:ext cx="793790" cy="30480"/>
          </a:xfrm>
          <a:prstGeom prst="roundRect">
            <a:avLst>
              <a:gd name="adj" fmla="val 30000"/>
            </a:avLst>
          </a:prstGeom>
          <a:solidFill>
            <a:srgbClr val="E2D27F"/>
          </a:solidFill>
          <a:ln/>
        </p:spPr>
      </p:sp>
      <p:sp>
        <p:nvSpPr>
          <p:cNvPr id="13" name="Shape 11"/>
          <p:cNvSpPr/>
          <p:nvPr/>
        </p:nvSpPr>
        <p:spPr>
          <a:xfrm>
            <a:off x="878800" y="4752142"/>
            <a:ext cx="510302" cy="510302"/>
          </a:xfrm>
          <a:prstGeom prst="roundRect">
            <a:avLst>
              <a:gd name="adj" fmla="val 1792"/>
            </a:avLst>
          </a:prstGeom>
          <a:solidFill>
            <a:srgbClr val="FCEC99"/>
          </a:solidFill>
          <a:ln w="7620">
            <a:solidFill>
              <a:srgbClr val="E2D27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36796" y="4837152"/>
            <a:ext cx="194310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2</a:t>
            </a:r>
            <a:endParaRPr lang="en-US" sz="2650" dirty="0"/>
          </a:p>
        </p:txBody>
      </p:sp>
      <p:sp>
        <p:nvSpPr>
          <p:cNvPr id="15" name="Text 13"/>
          <p:cNvSpPr/>
          <p:nvPr/>
        </p:nvSpPr>
        <p:spPr>
          <a:xfrm>
            <a:off x="2381488" y="4723805"/>
            <a:ext cx="437411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Sin Preocupación por Tamaño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2381488" y="5214223"/>
            <a:ext cx="779752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 es necesario especificar un tamaño fijo al crear ArrayList.</a:t>
            </a:r>
            <a:endParaRPr lang="en-US" sz="1750" dirty="0"/>
          </a:p>
        </p:txBody>
      </p:sp>
      <p:sp>
        <p:nvSpPr>
          <p:cNvPr id="17" name="Shape 15"/>
          <p:cNvSpPr/>
          <p:nvPr/>
        </p:nvSpPr>
        <p:spPr>
          <a:xfrm>
            <a:off x="1358622" y="6525816"/>
            <a:ext cx="793790" cy="30480"/>
          </a:xfrm>
          <a:prstGeom prst="roundRect">
            <a:avLst>
              <a:gd name="adj" fmla="val 30000"/>
            </a:avLst>
          </a:prstGeom>
          <a:solidFill>
            <a:srgbClr val="E2D27F"/>
          </a:solidFill>
          <a:ln/>
        </p:spPr>
      </p:sp>
      <p:sp>
        <p:nvSpPr>
          <p:cNvPr id="18" name="Shape 16"/>
          <p:cNvSpPr/>
          <p:nvPr/>
        </p:nvSpPr>
        <p:spPr>
          <a:xfrm>
            <a:off x="878800" y="6285905"/>
            <a:ext cx="510302" cy="510302"/>
          </a:xfrm>
          <a:prstGeom prst="roundRect">
            <a:avLst>
              <a:gd name="adj" fmla="val 1792"/>
            </a:avLst>
          </a:prstGeom>
          <a:solidFill>
            <a:srgbClr val="FCEC99"/>
          </a:solidFill>
          <a:ln w="7620">
            <a:solidFill>
              <a:srgbClr val="E2D27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30962" y="6370915"/>
            <a:ext cx="205859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3</a:t>
            </a:r>
            <a:endParaRPr lang="en-US" sz="2650" dirty="0"/>
          </a:p>
        </p:txBody>
      </p:sp>
      <p:sp>
        <p:nvSpPr>
          <p:cNvPr id="20" name="Text 18"/>
          <p:cNvSpPr/>
          <p:nvPr/>
        </p:nvSpPr>
        <p:spPr>
          <a:xfrm>
            <a:off x="2381488" y="625756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Tipo Genérico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2381488" y="6747986"/>
            <a:ext cx="779752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 declara con un tipo específico, por ejemplo: ArrayList.</a:t>
            </a:r>
            <a:endParaRPr lang="en-US" sz="17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D011"/>
          </a:solidFill>
          <a:ln/>
        </p:spPr>
      </p:sp>
      <p:sp>
        <p:nvSpPr>
          <p:cNvPr id="3" name="Text 1"/>
          <p:cNvSpPr/>
          <p:nvPr/>
        </p:nvSpPr>
        <p:spPr>
          <a:xfrm>
            <a:off x="793790" y="1271230"/>
            <a:ext cx="6101834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Ejemplo de ArrayList.</a:t>
            </a:r>
            <a:endParaRPr lang="en-US" sz="4450" dirty="0"/>
          </a:p>
        </p:txBody>
      </p:sp>
      <p:sp>
        <p:nvSpPr>
          <p:cNvPr id="4" name="Shape 2"/>
          <p:cNvSpPr/>
          <p:nvPr/>
        </p:nvSpPr>
        <p:spPr>
          <a:xfrm>
            <a:off x="793790" y="2433552"/>
            <a:ext cx="13042821" cy="35957"/>
          </a:xfrm>
          <a:prstGeom prst="rect">
            <a:avLst/>
          </a:prstGeom>
          <a:solidFill>
            <a:srgbClr val="272525">
              <a:alpha val="5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793790" y="2979777"/>
            <a:ext cx="6244709" cy="3606165"/>
          </a:xfrm>
          <a:prstGeom prst="roundRect">
            <a:avLst>
              <a:gd name="adj" fmla="val 254"/>
            </a:avLst>
          </a:prstGeom>
          <a:solidFill>
            <a:srgbClr val="D6F5F0"/>
          </a:solidFill>
          <a:ln/>
        </p:spPr>
      </p:sp>
      <p:sp>
        <p:nvSpPr>
          <p:cNvPr id="6" name="Shape 4"/>
          <p:cNvSpPr/>
          <p:nvPr/>
        </p:nvSpPr>
        <p:spPr>
          <a:xfrm>
            <a:off x="782479" y="2979777"/>
            <a:ext cx="6267331" cy="3606165"/>
          </a:xfrm>
          <a:prstGeom prst="roundRect">
            <a:avLst>
              <a:gd name="adj" fmla="val 944"/>
            </a:avLst>
          </a:prstGeom>
          <a:solidFill>
            <a:srgbClr val="D6F5F0"/>
          </a:solidFill>
          <a:ln/>
        </p:spPr>
      </p:sp>
      <p:sp>
        <p:nvSpPr>
          <p:cNvPr id="7" name="Text 5"/>
          <p:cNvSpPr/>
          <p:nvPr/>
        </p:nvSpPr>
        <p:spPr>
          <a:xfrm>
            <a:off x="1009293" y="3149798"/>
            <a:ext cx="5813703" cy="32661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highlight>
                  <a:srgbClr val="D6F5F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ArrayList listaProductos = new ArrayList&lt;&gt;();
listaProductos.add("Café Premium Molido");
listaProductos.add("Té Verde Orgánico");
listaProductos.add("Chocolate Amargo 80%");
for (String producto : listaProductos) {
    System.out.println(producto);
}
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599521" y="2928699"/>
            <a:ext cx="6244709" cy="14592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Este código utiliza una </a:t>
            </a:r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highlight>
                  <a:srgbClr val="D6F5F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ArrayList</a:t>
            </a:r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para manejar una lista dinámica de productos y es una alternativa más flexible a los arreglos tradicionales en Java. Aquí tienes un análisis resumido.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7599521" y="4643080"/>
            <a:ext cx="6244709" cy="2060138"/>
          </a:xfrm>
          <a:prstGeom prst="roundRect">
            <a:avLst>
              <a:gd name="adj" fmla="val 444"/>
            </a:avLst>
          </a:prstGeom>
          <a:solidFill>
            <a:srgbClr val="B6D6FC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26335" y="4987171"/>
            <a:ext cx="283488" cy="22681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336637" y="4926568"/>
            <a:ext cx="5280779" cy="14592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Ventaja principal:</a:t>
            </a:r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highlight>
                  <a:srgbClr val="D6F5F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ArrayList</a:t>
            </a:r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es más flexible que los arreglos tradicionales, ya que tiene un tamaño dinámico y métodos útiles para la manipulación de datos.</a:t>
            </a:r>
            <a:endParaRPr lang="en-US" sz="17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281232"/>
          </a:xfrm>
          <a:prstGeom prst="rect">
            <a:avLst/>
          </a:prstGeom>
          <a:solidFill>
            <a:srgbClr val="FFD011"/>
          </a:solidFill>
          <a:ln/>
        </p:spPr>
      </p:sp>
      <p:sp>
        <p:nvSpPr>
          <p:cNvPr id="3" name="Text 1"/>
          <p:cNvSpPr/>
          <p:nvPr/>
        </p:nvSpPr>
        <p:spPr>
          <a:xfrm>
            <a:off x="717471" y="1844873"/>
            <a:ext cx="8200192" cy="6405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000"/>
              </a:lnSpc>
              <a:buNone/>
            </a:pPr>
            <a:r>
              <a:rPr lang="en-US" sz="40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Métodos Comunes de ArrayList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717471" y="2895296"/>
            <a:ext cx="13195459" cy="33218"/>
          </a:xfrm>
          <a:prstGeom prst="rect">
            <a:avLst/>
          </a:prstGeom>
          <a:solidFill>
            <a:srgbClr val="272525">
              <a:alpha val="5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7303770" y="3159085"/>
            <a:ext cx="22860" cy="4509849"/>
          </a:xfrm>
          <a:prstGeom prst="roundRect">
            <a:avLst>
              <a:gd name="adj" fmla="val 40000"/>
            </a:avLst>
          </a:prstGeom>
          <a:solidFill>
            <a:srgbClr val="D8D4D4"/>
          </a:solidFill>
          <a:ln/>
        </p:spPr>
      </p:sp>
      <p:sp>
        <p:nvSpPr>
          <p:cNvPr id="6" name="Shape 4"/>
          <p:cNvSpPr/>
          <p:nvPr/>
        </p:nvSpPr>
        <p:spPr>
          <a:xfrm>
            <a:off x="6389965" y="3608903"/>
            <a:ext cx="717471" cy="22860"/>
          </a:xfrm>
          <a:prstGeom prst="roundRect">
            <a:avLst>
              <a:gd name="adj" fmla="val 40000"/>
            </a:avLst>
          </a:prstGeom>
          <a:solidFill>
            <a:srgbClr val="E2D27F"/>
          </a:solidFill>
          <a:ln/>
        </p:spPr>
      </p:sp>
      <p:sp>
        <p:nvSpPr>
          <p:cNvPr id="7" name="Shape 5"/>
          <p:cNvSpPr/>
          <p:nvPr/>
        </p:nvSpPr>
        <p:spPr>
          <a:xfrm>
            <a:off x="7084576" y="3389709"/>
            <a:ext cx="461248" cy="461248"/>
          </a:xfrm>
          <a:prstGeom prst="roundRect">
            <a:avLst>
              <a:gd name="adj" fmla="val 1982"/>
            </a:avLst>
          </a:prstGeom>
          <a:solidFill>
            <a:srgbClr val="FCEC99"/>
          </a:solidFill>
          <a:ln w="7620">
            <a:solidFill>
              <a:srgbClr val="E2D27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257336" y="3466505"/>
            <a:ext cx="115610" cy="3075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1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3625334" y="3363992"/>
            <a:ext cx="2562463" cy="320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272525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add(elemento)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717471" y="3807262"/>
            <a:ext cx="5470327" cy="328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Agrega un elemento al final de la lista.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522964" y="4633793"/>
            <a:ext cx="717471" cy="22860"/>
          </a:xfrm>
          <a:prstGeom prst="roundRect">
            <a:avLst>
              <a:gd name="adj" fmla="val 40000"/>
            </a:avLst>
          </a:prstGeom>
          <a:solidFill>
            <a:srgbClr val="E2D27F"/>
          </a:solidFill>
          <a:ln/>
        </p:spPr>
      </p:sp>
      <p:sp>
        <p:nvSpPr>
          <p:cNvPr id="12" name="Shape 10"/>
          <p:cNvSpPr/>
          <p:nvPr/>
        </p:nvSpPr>
        <p:spPr>
          <a:xfrm>
            <a:off x="7084576" y="4414599"/>
            <a:ext cx="461248" cy="461248"/>
          </a:xfrm>
          <a:prstGeom prst="roundRect">
            <a:avLst>
              <a:gd name="adj" fmla="val 1982"/>
            </a:avLst>
          </a:prstGeom>
          <a:solidFill>
            <a:srgbClr val="FCEC99"/>
          </a:solidFill>
          <a:ln w="7620">
            <a:solidFill>
              <a:srgbClr val="E2D27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227332" y="4491395"/>
            <a:ext cx="175617" cy="3075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2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8442603" y="4388882"/>
            <a:ext cx="3034427" cy="320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272525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remove(índice/objeto)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8442603" y="4832152"/>
            <a:ext cx="5470327" cy="328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Elimina un elemento por índice o por objeto.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389965" y="5556171"/>
            <a:ext cx="717471" cy="22860"/>
          </a:xfrm>
          <a:prstGeom prst="roundRect">
            <a:avLst>
              <a:gd name="adj" fmla="val 40000"/>
            </a:avLst>
          </a:prstGeom>
          <a:solidFill>
            <a:srgbClr val="E2D27F"/>
          </a:solidFill>
          <a:ln/>
        </p:spPr>
      </p:sp>
      <p:sp>
        <p:nvSpPr>
          <p:cNvPr id="17" name="Shape 15"/>
          <p:cNvSpPr/>
          <p:nvPr/>
        </p:nvSpPr>
        <p:spPr>
          <a:xfrm>
            <a:off x="7084576" y="5336977"/>
            <a:ext cx="461248" cy="461248"/>
          </a:xfrm>
          <a:prstGeom prst="roundRect">
            <a:avLst>
              <a:gd name="adj" fmla="val 1982"/>
            </a:avLst>
          </a:prstGeom>
          <a:solidFill>
            <a:srgbClr val="FCEC99"/>
          </a:solidFill>
          <a:ln w="7620">
            <a:solidFill>
              <a:srgbClr val="E2D27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222093" y="5413772"/>
            <a:ext cx="186095" cy="3075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3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3625334" y="5311259"/>
            <a:ext cx="2562463" cy="320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272525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get(índice)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17471" y="5754529"/>
            <a:ext cx="5470327" cy="328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Obtiene el elemento en la posición dada.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522964" y="6478667"/>
            <a:ext cx="717471" cy="22860"/>
          </a:xfrm>
          <a:prstGeom prst="roundRect">
            <a:avLst>
              <a:gd name="adj" fmla="val 40000"/>
            </a:avLst>
          </a:prstGeom>
          <a:solidFill>
            <a:srgbClr val="E2D27F"/>
          </a:solidFill>
          <a:ln/>
        </p:spPr>
      </p:sp>
      <p:sp>
        <p:nvSpPr>
          <p:cNvPr id="22" name="Shape 20"/>
          <p:cNvSpPr/>
          <p:nvPr/>
        </p:nvSpPr>
        <p:spPr>
          <a:xfrm>
            <a:off x="7084576" y="6259473"/>
            <a:ext cx="461248" cy="461248"/>
          </a:xfrm>
          <a:prstGeom prst="roundRect">
            <a:avLst>
              <a:gd name="adj" fmla="val 1982"/>
            </a:avLst>
          </a:prstGeom>
          <a:solidFill>
            <a:srgbClr val="FCEC99"/>
          </a:solidFill>
          <a:ln w="7620">
            <a:solidFill>
              <a:srgbClr val="E2D27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211020" y="6336268"/>
            <a:ext cx="208240" cy="3075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4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8442603" y="6233755"/>
            <a:ext cx="2562463" cy="320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272525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size()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8442603" y="6677025"/>
            <a:ext cx="5470327" cy="328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Retorna la cantidad de elementos en la lista.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02449" y="3380899"/>
            <a:ext cx="7825502" cy="9782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7700"/>
              </a:lnSpc>
              <a:buNone/>
            </a:pPr>
            <a:r>
              <a:rPr lang="en-US" sz="615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Ejemplo práctico</a:t>
            </a:r>
            <a:endParaRPr lang="en-US" sz="6150" dirty="0"/>
          </a:p>
        </p:txBody>
      </p:sp>
      <p:sp>
        <p:nvSpPr>
          <p:cNvPr id="3" name="Shape 1"/>
          <p:cNvSpPr/>
          <p:nvPr/>
        </p:nvSpPr>
        <p:spPr>
          <a:xfrm>
            <a:off x="793790" y="4812658"/>
            <a:ext cx="13042821" cy="35957"/>
          </a:xfrm>
          <a:prstGeom prst="rect">
            <a:avLst/>
          </a:prstGeom>
          <a:solidFill>
            <a:srgbClr val="272525">
              <a:alpha val="50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213080" y="228600"/>
            <a:ext cx="1188720" cy="36445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D011"/>
          </a:solidFill>
          <a:ln/>
        </p:spPr>
      </p:sp>
      <p:sp>
        <p:nvSpPr>
          <p:cNvPr id="3" name="Text 1"/>
          <p:cNvSpPr/>
          <p:nvPr/>
        </p:nvSpPr>
        <p:spPr>
          <a:xfrm>
            <a:off x="793790" y="2727484"/>
            <a:ext cx="11630858" cy="5745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🛑</a:t>
            </a:r>
            <a:pPr indent="0" marL="0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Problema: Actualización dinámica del catálogo</a:t>
            </a:r>
            <a:endParaRPr lang="en-US" sz="3550" dirty="0"/>
          </a:p>
        </p:txBody>
      </p:sp>
      <p:sp>
        <p:nvSpPr>
          <p:cNvPr id="4" name="Shape 2"/>
          <p:cNvSpPr/>
          <p:nvPr/>
        </p:nvSpPr>
        <p:spPr>
          <a:xfrm>
            <a:off x="793790" y="3557230"/>
            <a:ext cx="13042821" cy="1326713"/>
          </a:xfrm>
          <a:prstGeom prst="roundRect">
            <a:avLst>
              <a:gd name="adj" fmla="val 689"/>
            </a:avLst>
          </a:prstGeom>
          <a:solidFill>
            <a:srgbClr val="FCF2B5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0604" y="3901321"/>
            <a:ext cx="283488" cy="22681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30906" y="3840718"/>
            <a:ext cx="1207889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 necesita añadir un nuevo producto  "Café Descafeinado" al catálogo digital debido a la creciente demanda de los clientes y se decide que "Chocolate Amargo 80%" ya no estará disponible</a:t>
            </a:r>
            <a:endParaRPr lang="en-US" sz="17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127" y="5226129"/>
            <a:ext cx="127516" cy="17002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33951" y="5139095"/>
            <a:ext cx="339101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highlight>
                  <a:srgbClr val="8DE2D6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Hacé clic acá para ver la solución</a:t>
            </a:r>
            <a:endParaRPr lang="en-US" sz="17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170027"/>
          </a:xfrm>
          <a:prstGeom prst="rect">
            <a:avLst/>
          </a:prstGeom>
          <a:solidFill>
            <a:srgbClr val="FFD011"/>
          </a:solidFill>
          <a:ln/>
        </p:spPr>
      </p:sp>
      <p:sp>
        <p:nvSpPr>
          <p:cNvPr id="3" name="Text 1"/>
          <p:cNvSpPr/>
          <p:nvPr/>
        </p:nvSpPr>
        <p:spPr>
          <a:xfrm>
            <a:off x="655201" y="1684734"/>
            <a:ext cx="5151834" cy="5849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4600"/>
              </a:lnSpc>
              <a:buNone/>
            </a:pPr>
            <a:r>
              <a:rPr lang="en-US" sz="365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Recursos Adicionales</a:t>
            </a:r>
            <a:endParaRPr lang="en-US" sz="3650" dirty="0"/>
          </a:p>
        </p:txBody>
      </p:sp>
      <p:sp>
        <p:nvSpPr>
          <p:cNvPr id="4" name="Shape 2"/>
          <p:cNvSpPr/>
          <p:nvPr/>
        </p:nvSpPr>
        <p:spPr>
          <a:xfrm>
            <a:off x="655201" y="2644031"/>
            <a:ext cx="13319998" cy="30956"/>
          </a:xfrm>
          <a:prstGeom prst="rect">
            <a:avLst/>
          </a:prstGeom>
          <a:solidFill>
            <a:srgbClr val="272525">
              <a:alpha val="5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55201" y="3095982"/>
            <a:ext cx="421124" cy="421124"/>
          </a:xfrm>
          <a:prstGeom prst="roundRect">
            <a:avLst>
              <a:gd name="adj" fmla="val 2171"/>
            </a:avLst>
          </a:prstGeom>
          <a:solidFill>
            <a:srgbClr val="8DE2D6"/>
          </a:solidFill>
          <a:ln w="7620">
            <a:solidFill>
              <a:srgbClr val="73C8B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12959" y="3166110"/>
            <a:ext cx="105608" cy="2808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263491" y="3095982"/>
            <a:ext cx="3706892" cy="5848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00"/>
              </a:lnSpc>
              <a:buNone/>
            </a:pPr>
            <a:r>
              <a:rPr lang="en-US" sz="1800" b="1" dirty="0">
                <a:solidFill>
                  <a:srgbClr val="272525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Documentación Oficial de Java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63491" y="3793093"/>
            <a:ext cx="3706892" cy="598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Consulta la documentación de String y ArrayList para profundizar.</a:t>
            </a:r>
            <a:endParaRPr lang="en-US" sz="1450" dirty="0"/>
          </a:p>
        </p:txBody>
      </p:sp>
      <p:pic>
        <p:nvPicPr>
          <p:cNvPr id="9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63491" y="4602480"/>
            <a:ext cx="3059311" cy="1534954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5157549" y="3095982"/>
            <a:ext cx="421124" cy="421124"/>
          </a:xfrm>
          <a:prstGeom prst="roundRect">
            <a:avLst>
              <a:gd name="adj" fmla="val 2171"/>
            </a:avLst>
          </a:prstGeom>
          <a:solidFill>
            <a:srgbClr val="8DE2D6"/>
          </a:solidFill>
          <a:ln w="7620">
            <a:solidFill>
              <a:srgbClr val="73C8B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287923" y="3166110"/>
            <a:ext cx="160377" cy="2808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5765840" y="3095982"/>
            <a:ext cx="2675334" cy="292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300"/>
              </a:lnSpc>
              <a:buNone/>
            </a:pPr>
            <a:r>
              <a:rPr lang="en-US" sz="1800" b="1" dirty="0">
                <a:solidFill>
                  <a:srgbClr val="272525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Tutoriales en YouTube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5765840" y="3500676"/>
            <a:ext cx="3706892" cy="598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Explora tutoriales recomendados sobre manipulación de cadenas y colecciones.</a:t>
            </a:r>
            <a:endParaRPr lang="en-US" sz="1450" dirty="0"/>
          </a:p>
        </p:txBody>
      </p:sp>
      <p:pic>
        <p:nvPicPr>
          <p:cNvPr id="14" name="Image 1" descr="preencoded.png">
            <a:hlinkClick r:id="rId4" tooltip="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5840" y="4310063"/>
            <a:ext cx="3059311" cy="3406973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9659898" y="3095982"/>
            <a:ext cx="421124" cy="421124"/>
          </a:xfrm>
          <a:prstGeom prst="roundRect">
            <a:avLst>
              <a:gd name="adj" fmla="val 2171"/>
            </a:avLst>
          </a:prstGeom>
          <a:solidFill>
            <a:srgbClr val="8DE2D6"/>
          </a:solidFill>
          <a:ln w="7620">
            <a:solidFill>
              <a:srgbClr val="73C8BC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9785509" y="3166110"/>
            <a:ext cx="169902" cy="2808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3"/>
          <p:cNvSpPr/>
          <p:nvPr/>
        </p:nvSpPr>
        <p:spPr>
          <a:xfrm>
            <a:off x="10268188" y="3095982"/>
            <a:ext cx="2858333" cy="292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300"/>
              </a:lnSpc>
              <a:buNone/>
            </a:pPr>
            <a:r>
              <a:rPr lang="en-US" sz="1800" b="1" dirty="0">
                <a:solidFill>
                  <a:srgbClr val="272525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Libros de Programación</a:t>
            </a:r>
            <a:endParaRPr lang="en-US" sz="1800" dirty="0"/>
          </a:p>
        </p:txBody>
      </p:sp>
      <p:sp>
        <p:nvSpPr>
          <p:cNvPr id="18" name="Text 14"/>
          <p:cNvSpPr/>
          <p:nvPr/>
        </p:nvSpPr>
        <p:spPr>
          <a:xfrm>
            <a:off x="10268188" y="3500676"/>
            <a:ext cx="3706892" cy="598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Amplía tus conocimientos con libros especializados en Java.</a:t>
            </a:r>
            <a:endParaRPr lang="en-US" sz="1450" dirty="0"/>
          </a:p>
        </p:txBody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87150" y="4310063"/>
            <a:ext cx="1268849" cy="180867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0268188" y="6329243"/>
            <a:ext cx="3706892" cy="2994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350"/>
              </a:lnSpc>
              <a:buNone/>
            </a:pPr>
            <a:endParaRPr lang="en-US" sz="14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417558"/>
          </a:xfrm>
          <a:prstGeom prst="rect">
            <a:avLst/>
          </a:prstGeom>
          <a:solidFill>
            <a:srgbClr val="FFD011"/>
          </a:solidFill>
          <a:ln/>
        </p:spPr>
      </p:sp>
      <p:sp>
        <p:nvSpPr>
          <p:cNvPr id="3" name="Text 1"/>
          <p:cNvSpPr/>
          <p:nvPr/>
        </p:nvSpPr>
        <p:spPr>
          <a:xfrm>
            <a:off x="793790" y="2863453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Reflexiones Finales</a:t>
            </a:r>
            <a:endParaRPr lang="en-US" sz="4450" dirty="0"/>
          </a:p>
        </p:txBody>
      </p:sp>
      <p:sp>
        <p:nvSpPr>
          <p:cNvPr id="4" name="Shape 2"/>
          <p:cNvSpPr/>
          <p:nvPr/>
        </p:nvSpPr>
        <p:spPr>
          <a:xfrm>
            <a:off x="793790" y="3912394"/>
            <a:ext cx="6408063" cy="1322189"/>
          </a:xfrm>
          <a:prstGeom prst="roundRect">
            <a:avLst>
              <a:gd name="adj" fmla="val 692"/>
            </a:avLst>
          </a:prstGeom>
          <a:solidFill>
            <a:srgbClr val="F2EEEE"/>
          </a:solidFill>
          <a:ln w="7620">
            <a:solidFill>
              <a:srgbClr val="D8D4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8224" y="4146828"/>
            <a:ext cx="361640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Inmutabilidad de Strings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28224" y="4637246"/>
            <a:ext cx="593919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¿Por qué son inmutables las cadenas en Java?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7428667" y="3912394"/>
            <a:ext cx="6408063" cy="1322189"/>
          </a:xfrm>
          <a:prstGeom prst="roundRect">
            <a:avLst>
              <a:gd name="adj" fmla="val 692"/>
            </a:avLst>
          </a:prstGeom>
          <a:solidFill>
            <a:srgbClr val="F2EEEE"/>
          </a:solidFill>
          <a:ln w="7620">
            <a:solidFill>
              <a:srgbClr val="D8D4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63101" y="414682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Arrays vs ArrayList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663101" y="4637246"/>
            <a:ext cx="593919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¿Cuándo conviene usar cada uno?</a:t>
            </a:r>
            <a:endParaRPr lang="en-US" sz="1750" dirty="0"/>
          </a:p>
        </p:txBody>
      </p:sp>
      <p:sp>
        <p:nvSpPr>
          <p:cNvPr id="10" name="Shape 8"/>
          <p:cNvSpPr/>
          <p:nvPr/>
        </p:nvSpPr>
        <p:spPr>
          <a:xfrm>
            <a:off x="793790" y="5461397"/>
            <a:ext cx="6408063" cy="1322189"/>
          </a:xfrm>
          <a:prstGeom prst="roundRect">
            <a:avLst>
              <a:gd name="adj" fmla="val 692"/>
            </a:avLst>
          </a:prstGeom>
          <a:solidFill>
            <a:srgbClr val="F2EEEE"/>
          </a:solidFill>
          <a:ln w="7620">
            <a:solidFill>
              <a:srgbClr val="D8D4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28224" y="5695831"/>
            <a:ext cx="317861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Impacto en Proyectos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028224" y="6186249"/>
            <a:ext cx="593919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¿Cómo contribuye esto a la escalabilidad de TechLab?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7428667" y="5461397"/>
            <a:ext cx="6408063" cy="1322189"/>
          </a:xfrm>
          <a:prstGeom prst="roundRect">
            <a:avLst>
              <a:gd name="adj" fmla="val 692"/>
            </a:avLst>
          </a:prstGeom>
          <a:solidFill>
            <a:srgbClr val="F2EEEE"/>
          </a:solidFill>
          <a:ln w="7620">
            <a:solidFill>
              <a:srgbClr val="D8D4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663101" y="5695831"/>
            <a:ext cx="333422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Aplicaciones Prácticas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7663101" y="6186249"/>
            <a:ext cx="593919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¿Qué otros usos ves para estas herramientas?</a:t>
            </a:r>
            <a:endParaRPr lang="en-US" sz="17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923223" y="3320415"/>
            <a:ext cx="8783955" cy="9858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7700"/>
              </a:lnSpc>
              <a:buNone/>
            </a:pPr>
            <a:r>
              <a:rPr lang="en-US" sz="615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⚙️</a:t>
            </a:r>
            <a:pPr algn="ctr" indent="0" marL="0">
              <a:lnSpc>
                <a:spcPts val="7700"/>
              </a:lnSpc>
              <a:buNone/>
            </a:pPr>
            <a:r>
              <a:rPr lang="en-US" sz="615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Ejercicios prácticos</a:t>
            </a:r>
            <a:endParaRPr lang="en-US" sz="6150" dirty="0"/>
          </a:p>
        </p:txBody>
      </p:sp>
      <p:sp>
        <p:nvSpPr>
          <p:cNvPr id="3" name="Shape 1"/>
          <p:cNvSpPr/>
          <p:nvPr/>
        </p:nvSpPr>
        <p:spPr>
          <a:xfrm>
            <a:off x="793790" y="4873261"/>
            <a:ext cx="13042821" cy="35957"/>
          </a:xfrm>
          <a:prstGeom prst="rect">
            <a:avLst/>
          </a:prstGeom>
          <a:solidFill>
            <a:srgbClr val="272525">
              <a:alpha val="50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213080" y="228600"/>
            <a:ext cx="1188720" cy="36445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416248"/>
          </a:xfrm>
          <a:prstGeom prst="rect">
            <a:avLst/>
          </a:prstGeom>
          <a:solidFill>
            <a:srgbClr val="8DE2D6"/>
          </a:solidFill>
          <a:ln/>
        </p:spPr>
      </p:sp>
      <p:sp>
        <p:nvSpPr>
          <p:cNvPr id="3" name="Text 1"/>
          <p:cNvSpPr/>
          <p:nvPr/>
        </p:nvSpPr>
        <p:spPr>
          <a:xfrm>
            <a:off x="793075" y="2039422"/>
            <a:ext cx="8945999" cy="7156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⚙️</a:t>
            </a:r>
            <a:pPr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Situación inicial en TechLab.</a:t>
            </a:r>
            <a:endParaRPr lang="en-US" sz="4450" dirty="0"/>
          </a:p>
        </p:txBody>
      </p:sp>
      <p:sp>
        <p:nvSpPr>
          <p:cNvPr id="4" name="Shape 2"/>
          <p:cNvSpPr/>
          <p:nvPr/>
        </p:nvSpPr>
        <p:spPr>
          <a:xfrm>
            <a:off x="793075" y="3208239"/>
            <a:ext cx="13044249" cy="35838"/>
          </a:xfrm>
          <a:prstGeom prst="rect">
            <a:avLst/>
          </a:prstGeom>
          <a:solidFill>
            <a:srgbClr val="272525">
              <a:alpha val="50000"/>
            </a:srgbClr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075" y="3753802"/>
            <a:ext cx="1548527" cy="149721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112175" y="3702844"/>
            <a:ext cx="10732651" cy="3624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3112175" y="4269224"/>
            <a:ext cx="10732651" cy="3624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Silvia, la Product Owner, tiene en el </a:t>
            </a:r>
            <a:pPr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backlog</a:t>
            </a:r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* una serie de pedidos del cliente:  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3112175" y="4835604"/>
            <a:ext cx="10732651" cy="7248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Los nombres de algunos productos vienen con espacios extra o en mayúsculas y minúsculas inconsistentes. Es necesario limpiar y formatear esos nombres antes de mostrarlos al cliente.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3112175" y="5639753"/>
            <a:ext cx="10732651" cy="10872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 catálogo de productos empieza a crecer, y almacenar los nombres en variables sueltas ya no es práctico. Necesitan una estructura que permita agruparlos. Primero probarán con arrays, pero pronto notarán las limitaciones.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3112175" y="6806327"/>
            <a:ext cx="10732651" cy="7248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Finalmente, para agregar y quitar productos fácilmente del catálogo, un ArrayList será la solución. Además, Sabrina y Matías quieren filtrar, buscar y modificar productos de forma dinámica.</a:t>
            </a:r>
            <a:endParaRPr lang="en-US" sz="17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417558"/>
          </a:xfrm>
          <a:prstGeom prst="rect">
            <a:avLst/>
          </a:prstGeom>
          <a:solidFill>
            <a:srgbClr val="8DE2D6"/>
          </a:solidFill>
          <a:ln/>
        </p:spPr>
      </p:sp>
      <p:sp>
        <p:nvSpPr>
          <p:cNvPr id="3" name="Text 1"/>
          <p:cNvSpPr/>
          <p:nvPr/>
        </p:nvSpPr>
        <p:spPr>
          <a:xfrm>
            <a:off x="793790" y="2442686"/>
            <a:ext cx="573202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⚙️</a:t>
            </a:r>
            <a:pPr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272525"/>
                </a:solidFill>
                <a:highlight>
                  <a:srgbClr val="FFFFFF"/>
                </a:highlight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Ejercicio práctico</a:t>
            </a:r>
            <a:endParaRPr lang="en-US" sz="4450" dirty="0"/>
          </a:p>
        </p:txBody>
      </p:sp>
      <p:sp>
        <p:nvSpPr>
          <p:cNvPr id="4" name="Shape 2"/>
          <p:cNvSpPr/>
          <p:nvPr/>
        </p:nvSpPr>
        <p:spPr>
          <a:xfrm>
            <a:off x="793790" y="3519997"/>
            <a:ext cx="9371767" cy="35957"/>
          </a:xfrm>
          <a:prstGeom prst="rect">
            <a:avLst/>
          </a:prstGeom>
          <a:solidFill>
            <a:srgbClr val="272525">
              <a:alpha val="5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10726579" y="2832021"/>
            <a:ext cx="311753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highlight>
                  <a:srgbClr val="FCEC99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Optativo | No entregable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4066222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Para poder llegar con los tiempos de entrega dispuestos por Silvia, será necesario realizar las siguientes acciones: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4911090"/>
            <a:ext cx="389751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highlight>
                  <a:srgbClr val="FCEC99"/>
                </a:highlight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Manipulación de Cadenas: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93790" y="5492234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1" marL="6858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Dada una cadena " té CHAi ", formateala para que quede "Té Chai".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93790" y="6297335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1" marL="6858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Mostrá su longitud, su primera letra y verificá si contiene la palabra "Chai".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7599521" y="491109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highlight>
                  <a:srgbClr val="FCEC99"/>
                </a:highlight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Arrays: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599521" y="5492234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lvl="1" marL="6858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Creá un array de 5 productos.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7599521" y="5934432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1" marL="6858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Imprimí sus elementos y luego intentá agregar un sexto producto (analizá el resultado).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7599521" y="6864310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endParaRPr lang="en-US" sz="17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417558"/>
          </a:xfrm>
          <a:prstGeom prst="rect">
            <a:avLst/>
          </a:prstGeom>
          <a:solidFill>
            <a:srgbClr val="8DE2D6"/>
          </a:solidFill>
          <a:ln/>
        </p:spPr>
      </p:sp>
      <p:sp>
        <p:nvSpPr>
          <p:cNvPr id="3" name="Text 1"/>
          <p:cNvSpPr/>
          <p:nvPr/>
        </p:nvSpPr>
        <p:spPr>
          <a:xfrm>
            <a:off x="793790" y="2607112"/>
            <a:ext cx="573202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⚙️</a:t>
            </a:r>
            <a:pPr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272525"/>
                </a:solidFill>
                <a:highlight>
                  <a:srgbClr val="FFFFFF"/>
                </a:highlight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Ejercicio práctico</a:t>
            </a:r>
            <a:endParaRPr lang="en-US" sz="4450" dirty="0"/>
          </a:p>
        </p:txBody>
      </p:sp>
      <p:sp>
        <p:nvSpPr>
          <p:cNvPr id="4" name="Shape 2"/>
          <p:cNvSpPr/>
          <p:nvPr/>
        </p:nvSpPr>
        <p:spPr>
          <a:xfrm>
            <a:off x="793790" y="3684422"/>
            <a:ext cx="9371767" cy="35957"/>
          </a:xfrm>
          <a:prstGeom prst="rect">
            <a:avLst/>
          </a:prstGeom>
          <a:solidFill>
            <a:srgbClr val="272525">
              <a:alpha val="5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10726579" y="2996446"/>
            <a:ext cx="311753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highlight>
                  <a:srgbClr val="FCEC99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Optativo | No entregable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445746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highlight>
                  <a:srgbClr val="FCEC99"/>
                </a:highlight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ArrayList: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93790" y="5038606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lvl="1" marL="6858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Creá un ArrayList&lt;String&gt; para productos.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93790" y="5480804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1" marL="6858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Agregá varios productos, eliminá uno, verificá si otro existe y luego imprimí la lista final.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599521" y="4457462"/>
            <a:ext cx="407634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highlight>
                  <a:srgbClr val="FCEC99"/>
                </a:highlight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Combinar Cadenas y Listas: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599521" y="5038606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lvl="1" marL="6858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Tené una lista de productos con nombres desprolijos.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7599521" y="5480804"/>
            <a:ext cx="624470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1" marL="6858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Creá un método que recorra la lista y aplique el formateo a cada nombre, volviendo a imprimir la lista con nombres prolijos.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793790" y="6903958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2025-02-07T15:50:28Z</dcterms:created>
  <dcterms:modified xsi:type="dcterms:W3CDTF">2025-02-07T15:50:28Z</dcterms:modified>
</cp:coreProperties>
</file>