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8229600" cx="14630400"/>
  <p:notesSz cx="8229600" cy="14630400"/>
  <p:embeddedFontLst>
    <p:embeddedFont>
      <p:font typeface="Roboto"/>
      <p:regular r:id="rId50"/>
      <p:bold r:id="rId51"/>
      <p:italic r:id="rId52"/>
      <p:boldItalic r:id="rId53"/>
    </p:embeddedFont>
    <p:embeddedFont>
      <p:font typeface="Poppins"/>
      <p:bold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ho9hVCC7BfTYL4hGGzr4UssEfb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7.xml"/><Relationship Id="rId55" Type="http://schemas.openxmlformats.org/officeDocument/2006/relationships/font" Target="fonts/Poppins-boldItalic.fntdata"/><Relationship Id="rId10" Type="http://schemas.openxmlformats.org/officeDocument/2006/relationships/slide" Target="slides/slide6.xml"/><Relationship Id="rId54" Type="http://schemas.openxmlformats.org/officeDocument/2006/relationships/font" Target="fonts/Poppi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2 master">
  <p:cSld name="Slide 32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3 master">
  <p:cSld name="Slide 33 master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4 master">
  <p:cSld name="Slide 34 master"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5 master">
  <p:cSld name="Slide 35 master"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6 master">
  <p:cSld name="Slide 36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7 master">
  <p:cSld name="Slide 37 master"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8 master">
  <p:cSld name="Slide 38 master"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9 master">
  <p:cSld name="Slide 39 master"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0 master">
  <p:cSld name="Slide 40 master"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1 master">
  <p:cSld name="Slide 41 master"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2 master">
  <p:cSld name="Slide 42 master"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3 master">
  <p:cSld name="Slide 43 master"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4 master">
  <p:cSld name="Slide 44 master"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5 master">
  <p:cSld name="Slide 45 master"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emilianospinoso.github.io/proyecto-final-ecommerce/" TargetMode="External"/><Relationship Id="rId4" Type="http://schemas.openxmlformats.org/officeDocument/2006/relationships/hyperlink" Target="https://github.com/emilianospinoso/proyecto-final-ecommerce" TargetMode="External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9.png"/><Relationship Id="rId4" Type="http://schemas.openxmlformats.org/officeDocument/2006/relationships/hyperlink" Target="https://www.oracle.com/java/technologies/download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hyperlink" Target="https://www.jetbrains.com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hyperlink" Target="https://eclipseide.org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hyperlink" Target="https://git-scm.com/download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0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Relationship Id="rId4" Type="http://schemas.openxmlformats.org/officeDocument/2006/relationships/hyperlink" Target="https://docs.oracle.com/javase/8/docs/" TargetMode="External"/><Relationship Id="rId5" Type="http://schemas.openxmlformats.org/officeDocument/2006/relationships/image" Target="../media/image54.png"/><Relationship Id="rId6" Type="http://schemas.openxmlformats.org/officeDocument/2006/relationships/hyperlink" Target="https://git-scm.com/book/es/v2" TargetMode="External"/><Relationship Id="rId7" Type="http://schemas.openxmlformats.org/officeDocument/2006/relationships/image" Target="../media/image56.png"/><Relationship Id="rId8" Type="http://schemas.openxmlformats.org/officeDocument/2006/relationships/hyperlink" Target="https://www.youtube.com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62.png"/><Relationship Id="rId5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9536" y="1798082"/>
            <a:ext cx="4071342" cy="125396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"/>
          <p:cNvSpPr/>
          <p:nvPr/>
        </p:nvSpPr>
        <p:spPr>
          <a:xfrm>
            <a:off x="6425922" y="3454717"/>
            <a:ext cx="7264956" cy="115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0"/>
              <a:buFont typeface="Poppins"/>
              <a:buNone/>
            </a:pPr>
            <a:r>
              <a:rPr b="1" i="0" lang="en-US" sz="72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</a:t>
            </a:r>
            <a:r>
              <a:rPr b="1" i="0" lang="en-US" sz="7250" u="none" cap="none" strike="noStrike">
                <a:solidFill>
                  <a:srgbClr val="FFCC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endParaRPr b="0" i="0" sz="7250" u="none" cap="none" strike="noStrike"/>
          </a:p>
        </p:txBody>
      </p:sp>
      <p:sp>
        <p:nvSpPr>
          <p:cNvPr id="154" name="Google Shape;154;p1"/>
          <p:cNvSpPr/>
          <p:nvPr/>
        </p:nvSpPr>
        <p:spPr>
          <a:xfrm>
            <a:off x="6425922" y="5149175"/>
            <a:ext cx="7264956" cy="4107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6425922" y="5592842"/>
            <a:ext cx="7264956" cy="838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Poppin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Clase 01 | Introducción al curso y herramientas de trabajo</a:t>
            </a:r>
            <a:endParaRPr b="0" i="0" sz="2600" u="none" cap="none" strike="noStrike"/>
          </a:p>
        </p:txBody>
      </p:sp>
      <p:pic>
        <p:nvPicPr>
          <p:cNvPr descr="preencoded.png" id="156" name="Google Shape;15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3020266" y="2914995"/>
            <a:ext cx="8474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¡Les damos la bienvenida! 🚀</a:t>
            </a:r>
            <a:endParaRPr b="0" i="0" sz="4450" u="none" cap="none" strike="noStrike"/>
          </a:p>
        </p:txBody>
      </p:sp>
      <p:sp>
        <p:nvSpPr>
          <p:cNvPr id="164" name="Google Shape;164;p2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🎥</a:t>
            </a:r>
            <a:r>
              <a:rPr b="1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Vamos a comenzar a grabar la clase.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385" y="3125510"/>
            <a:ext cx="1978343" cy="197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/>
          <p:nvPr/>
        </p:nvSpPr>
        <p:spPr>
          <a:xfrm>
            <a:off x="4472345" y="2246471"/>
            <a:ext cx="9371767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¿Ya viste la “Introducción al programa" disponible en el campus virtual?</a:t>
            </a:r>
            <a:endParaRPr b="0" i="0" sz="4450" u="none" cap="none" strike="noStrike"/>
          </a:p>
        </p:txBody>
      </p:sp>
      <p:sp>
        <p:nvSpPr>
          <p:cNvPr id="172" name="Google Shape;172;p3"/>
          <p:cNvSpPr/>
          <p:nvPr/>
        </p:nvSpPr>
        <p:spPr>
          <a:xfrm>
            <a:off x="4472345" y="4627959"/>
            <a:ext cx="9371767" cy="1326713"/>
          </a:xfrm>
          <a:prstGeom prst="roundRect">
            <a:avLst>
              <a:gd fmla="val 68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159" y="4972050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/>
          <p:nvPr/>
        </p:nvSpPr>
        <p:spPr>
          <a:xfrm>
            <a:off x="5209461" y="4911447"/>
            <a:ext cx="84078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visualización y resolución de un breve cuestionario es de carácter obligatorio para desbloquear los contenidos de las primeras 2 clases</a:t>
            </a:r>
            <a:endParaRPr b="0" i="0" sz="1750" u="none" cap="none" strike="noStrike"/>
          </a:p>
        </p:txBody>
      </p:sp>
      <p:pic>
        <p:nvPicPr>
          <p:cNvPr descr="preencoded.png" id="175" name="Google Shape;1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/>
          <p:nvPr/>
        </p:nvSpPr>
        <p:spPr>
          <a:xfrm>
            <a:off x="1551899" y="3320425"/>
            <a:ext cx="11526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✨Conozcamos al Staff✨</a:t>
            </a:r>
            <a:endParaRPr b="0" i="0" sz="6150" u="none" cap="none" strike="noStrike"/>
          </a:p>
        </p:txBody>
      </p:sp>
      <p:sp>
        <p:nvSpPr>
          <p:cNvPr id="182" name="Google Shape;182;p4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793805" y="831175"/>
            <a:ext cx="9243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✨Staff Académico✨</a:t>
            </a:r>
            <a:endParaRPr b="0" i="0" sz="4450" u="none" cap="none" strike="noStrike"/>
          </a:p>
        </p:txBody>
      </p:sp>
      <p:sp>
        <p:nvSpPr>
          <p:cNvPr id="190" name="Google Shape;190;p5"/>
          <p:cNvSpPr/>
          <p:nvPr/>
        </p:nvSpPr>
        <p:spPr>
          <a:xfrm>
            <a:off x="793790" y="2106963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2107" y="2398038"/>
            <a:ext cx="2794516" cy="2794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1231276" y="5476050"/>
            <a:ext cx="5513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lang="en-US" sz="2650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Gisele Milagros Gonzalez</a:t>
            </a:r>
            <a:endParaRPr b="0" i="0" sz="2650" u="none" cap="none" strike="noStrike"/>
          </a:p>
        </p:txBody>
      </p:sp>
      <p:sp>
        <p:nvSpPr>
          <p:cNvPr id="193" name="Google Shape;193;p5"/>
          <p:cNvSpPr/>
          <p:nvPr/>
        </p:nvSpPr>
        <p:spPr>
          <a:xfrm>
            <a:off x="793790" y="6037421"/>
            <a:ext cx="63512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Rol:</a:t>
            </a:r>
            <a:r>
              <a:rPr b="1" lang="en-US" sz="1750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Instructora</a:t>
            </a:r>
            <a:endParaRPr b="0" i="0" sz="1750" u="none" cap="none" strike="noStrike"/>
          </a:p>
        </p:txBody>
      </p:sp>
      <p:sp>
        <p:nvSpPr>
          <p:cNvPr id="194" name="Google Shape;194;p5"/>
          <p:cNvSpPr/>
          <p:nvPr/>
        </p:nvSpPr>
        <p:spPr>
          <a:xfrm>
            <a:off x="793790" y="7035403"/>
            <a:ext cx="63512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Contacto: </a:t>
            </a:r>
            <a:r>
              <a:rPr lang="en-US" sz="1750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gis.gonzalez@bue.edu.ar</a:t>
            </a:r>
            <a:endParaRPr b="0" i="0" sz="1750" u="none" cap="none" strike="noStrike"/>
          </a:p>
        </p:txBody>
      </p:sp>
      <p:sp>
        <p:nvSpPr>
          <p:cNvPr id="195" name="Google Shape;195;p5"/>
          <p:cNvSpPr/>
          <p:nvPr/>
        </p:nvSpPr>
        <p:spPr>
          <a:xfrm>
            <a:off x="8959691" y="5476042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lang="en-US" sz="2650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Sofia Rodriguez</a:t>
            </a:r>
            <a:endParaRPr b="0" i="0" sz="2650" u="none" cap="none" strike="noStrike"/>
          </a:p>
        </p:txBody>
      </p:sp>
      <p:sp>
        <p:nvSpPr>
          <p:cNvPr id="196" name="Google Shape;196;p5"/>
          <p:cNvSpPr/>
          <p:nvPr/>
        </p:nvSpPr>
        <p:spPr>
          <a:xfrm>
            <a:off x="7485221" y="6037421"/>
            <a:ext cx="63513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Rol: </a:t>
            </a:r>
            <a:r>
              <a:rPr b="1" lang="en-US" sz="1750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Tutora</a:t>
            </a:r>
            <a:endParaRPr b="0" i="0" sz="1750" u="none" cap="none" strike="noStrike"/>
          </a:p>
        </p:txBody>
      </p:sp>
      <p:sp>
        <p:nvSpPr>
          <p:cNvPr id="197" name="Google Shape;197;p5"/>
          <p:cNvSpPr/>
          <p:nvPr/>
        </p:nvSpPr>
        <p:spPr>
          <a:xfrm>
            <a:off x="7485221" y="7035403"/>
            <a:ext cx="63513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Contacto: </a:t>
            </a:r>
            <a:r>
              <a:rPr lang="en-US" sz="1750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rodriguez.sofia@bue.edu.ar</a:t>
            </a:r>
            <a:endParaRPr b="0" i="0" sz="1750" u="none" cap="none" strike="noStrike"/>
          </a:p>
        </p:txBody>
      </p:sp>
      <p:pic>
        <p:nvPicPr>
          <p:cNvPr descr="preencoded.png" id="198" name="Google Shape;1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3657" y="2412226"/>
            <a:ext cx="2794516" cy="2794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1927741" y="3320415"/>
            <a:ext cx="10774918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📄Metodología de cursada</a:t>
            </a:r>
            <a:endParaRPr b="0" i="0" sz="6150" u="none" cap="none" strike="noStrike"/>
          </a:p>
        </p:txBody>
      </p:sp>
      <p:sp>
        <p:nvSpPr>
          <p:cNvPr id="206" name="Google Shape;206;p6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793790" y="1379339"/>
            <a:ext cx="78821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lang="en-US" sz="4450">
                <a:latin typeface="Poppins"/>
                <a:ea typeface="Poppins"/>
                <a:cs typeface="Poppins"/>
                <a:sym typeface="Poppins"/>
              </a:rPr>
              <a:t>Metodología</a:t>
            </a: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Evaluación</a:t>
            </a:r>
            <a:endParaRPr b="0" i="0" sz="4450" u="none" cap="none" strike="noStrike"/>
          </a:p>
        </p:txBody>
      </p:sp>
      <p:sp>
        <p:nvSpPr>
          <p:cNvPr id="214" name="Google Shape;214;p7"/>
          <p:cNvSpPr/>
          <p:nvPr/>
        </p:nvSpPr>
        <p:spPr>
          <a:xfrm>
            <a:off x="793790" y="2655127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793790" y="2946202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Nuestro objetivo es prepararte para enfrentar los desafíos del siglo XXI y facilitar tu inserción en el mercado laboral. Para lograrlo, hemos desarrollado un programa que enfatiza la ejercitación constante y el seguimiento continuo. A continuación, te explicamos cómo serás evaluado a lo largo de la cursada:</a:t>
            </a:r>
            <a:endParaRPr b="0" i="0" sz="1750" u="none" cap="none" strike="noStrike"/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835" y="4290060"/>
            <a:ext cx="751284" cy="75128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793790" y="5268158"/>
            <a:ext cx="30054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Ejercicios Prácticos</a:t>
            </a:r>
            <a:endParaRPr b="0" i="0" sz="1750" u="none" cap="none" strike="noStrike"/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6492" y="4290060"/>
            <a:ext cx="751403" cy="75140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4139446" y="5268278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Cuestionario</a:t>
            </a:r>
            <a:endParaRPr b="0" i="0" sz="1750" u="none" cap="none" strike="noStrike"/>
          </a:p>
        </p:txBody>
      </p:sp>
      <p:pic>
        <p:nvPicPr>
          <p:cNvPr descr="preencoded.png" id="220" name="Google Shape;2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2267" y="4290060"/>
            <a:ext cx="751403" cy="75140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7485221" y="5268278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Pre-Entrega</a:t>
            </a:r>
            <a:endParaRPr b="0" i="0" sz="1750" u="none" cap="none" strike="noStrike"/>
          </a:p>
        </p:txBody>
      </p:sp>
      <p:pic>
        <p:nvPicPr>
          <p:cNvPr descr="preencoded.png"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58042" y="4290060"/>
            <a:ext cx="751403" cy="75140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10830997" y="5268278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Proyecto Final</a:t>
            </a:r>
            <a:endParaRPr b="0" i="0" sz="175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793790" y="5886331"/>
            <a:ext cx="13042821" cy="963811"/>
          </a:xfrm>
          <a:prstGeom prst="roundRect">
            <a:avLst>
              <a:gd fmla="val 94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604" y="6230422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/>
          <p:nvPr/>
        </p:nvSpPr>
        <p:spPr>
          <a:xfrm>
            <a:off x="1530906" y="6169819"/>
            <a:ext cx="120788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información detallada de cada evaluación está disponible en el apartado “Introducción” dentro del Campus Virtual.</a:t>
            </a:r>
            <a:endParaRPr b="0" i="0" sz="1750" u="none" cap="none" strike="noStrike"/>
          </a:p>
        </p:txBody>
      </p:sp>
      <p:pic>
        <p:nvPicPr>
          <p:cNvPr descr="preencoded.png" id="227" name="Google Shape;22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2256825" y="1970475"/>
            <a:ext cx="8738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⚙️Proyecto Integrador Final</a:t>
            </a:r>
            <a:endParaRPr b="0" i="0" sz="4450" u="none" cap="none" strike="noStrike"/>
          </a:p>
        </p:txBody>
      </p:sp>
      <p:sp>
        <p:nvSpPr>
          <p:cNvPr id="235" name="Google Shape;235;p8"/>
          <p:cNvSpPr/>
          <p:nvPr/>
        </p:nvSpPr>
        <p:spPr>
          <a:xfrm>
            <a:off x="11242953" y="2143363"/>
            <a:ext cx="26011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Roboto"/>
                <a:ea typeface="Roboto"/>
                <a:cs typeface="Roboto"/>
                <a:sym typeface="Roboto"/>
              </a:rPr>
              <a:t>Obligatorio | Entregable</a:t>
            </a:r>
            <a:endParaRPr b="0" i="0" sz="1750" u="none" cap="none" strike="noStrike"/>
          </a:p>
        </p:txBody>
      </p:sp>
      <p:sp>
        <p:nvSpPr>
          <p:cNvPr id="236" name="Google Shape;236;p8"/>
          <p:cNvSpPr/>
          <p:nvPr/>
        </p:nvSpPr>
        <p:spPr>
          <a:xfrm>
            <a:off x="2256830" y="3274609"/>
            <a:ext cx="1157978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2256830" y="3650694"/>
            <a:ext cx="7724061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¿Cómo se construye el proyecto integrador?</a:t>
            </a:r>
            <a:endParaRPr b="0" i="0" sz="2650" u="none" cap="none" strike="noStrike"/>
          </a:p>
        </p:txBody>
      </p:sp>
      <p:sp>
        <p:nvSpPr>
          <p:cNvPr id="238" name="Google Shape;238;p8"/>
          <p:cNvSpPr/>
          <p:nvPr/>
        </p:nvSpPr>
        <p:spPr>
          <a:xfrm>
            <a:off x="2256830" y="4416147"/>
            <a:ext cx="1157978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Al final de la cursada, serás evaluado mediante la entrega de un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Proyecto Integrador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, que es fundamental para completar el curso y cumplir con los requisitos de egreso. Este proyecto se construirá de manera progresiva, combinando la resolución de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Ejercicios Prácticos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y la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Pre-Entrega de Proyecto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presentes a lo largo de la cursada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750" u="none" cap="none" strike="noStrike"/>
          </a:p>
        </p:txBody>
      </p:sp>
      <p:sp>
        <p:nvSpPr>
          <p:cNvPr id="239" name="Google Shape;239;p8"/>
          <p:cNvSpPr/>
          <p:nvPr/>
        </p:nvSpPr>
        <p:spPr>
          <a:xfrm>
            <a:off x="2256830" y="5760006"/>
            <a:ext cx="1157978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Las consignas a evaluar en este proyecto final integrador estará constituido por la resolución de los "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Ejercicios Prácticos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" presentes a lo largo de la cursada en función del proyecto integrador.</a:t>
            </a:r>
            <a:endParaRPr b="0" i="0" sz="1750" u="none" cap="none" strike="noStrike"/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793790" y="119657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Class</a:t>
            </a:r>
            <a:endParaRPr b="0" i="0" sz="4450" u="none" cap="none" strike="noStrike"/>
          </a:p>
        </p:txBody>
      </p:sp>
      <p:sp>
        <p:nvSpPr>
          <p:cNvPr id="247" name="Google Shape;247;p9"/>
          <p:cNvSpPr/>
          <p:nvPr/>
        </p:nvSpPr>
        <p:spPr>
          <a:xfrm>
            <a:off x="793790" y="2472366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93790" y="276344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 espacio "After Class" está diseñado para ofrecerte apoyo adicional y facilitar tu progreso durante la cursada. Aunque es opcional, te recomendamos que utilices este espacio para optimizar tu aprendizaje y el desarrollo de tu proyecto integrador.</a:t>
            </a:r>
            <a:endParaRPr b="0" i="0" sz="1750" u="none" cap="none" strike="noStrike"/>
          </a:p>
        </p:txBody>
      </p:sp>
      <p:sp>
        <p:nvSpPr>
          <p:cNvPr id="249" name="Google Shape;249;p9"/>
          <p:cNvSpPr/>
          <p:nvPr/>
        </p:nvSpPr>
        <p:spPr>
          <a:xfrm>
            <a:off x="793790" y="374439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✨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Beneficios de asistir:</a:t>
            </a:r>
            <a:endParaRPr b="0" i="0" sz="1750" u="none" cap="none" strike="noStrike"/>
          </a:p>
        </p:txBody>
      </p:sp>
      <p:sp>
        <p:nvSpPr>
          <p:cNvPr id="250" name="Google Shape;250;p9"/>
          <p:cNvSpPr/>
          <p:nvPr/>
        </p:nvSpPr>
        <p:spPr>
          <a:xfrm>
            <a:off x="793790" y="4362450"/>
            <a:ext cx="130428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Consultas y Asesoría: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Aprovecha este tiempo para resolver cualquier duda o consulta que tengas sobre el contenido de las clases, ejercicios prácticos, o cualquier aspecto relacionado con tu proyecto integrador. Podrás recibir orientación más personalizada de los/as instructores y obtener aclaraciones que te ayudarán a comprender mejor los conceptos y mejorar tu desempeño.</a:t>
            </a:r>
            <a:endParaRPr b="0" i="0" sz="1750" u="none" cap="none" strike="noStrike"/>
          </a:p>
        </p:txBody>
      </p:sp>
      <p:sp>
        <p:nvSpPr>
          <p:cNvPr id="251" name="Google Shape;251;p9"/>
          <p:cNvSpPr/>
          <p:nvPr/>
        </p:nvSpPr>
        <p:spPr>
          <a:xfrm>
            <a:off x="793790" y="6069211"/>
            <a:ext cx="13042821" cy="963811"/>
          </a:xfrm>
          <a:prstGeom prst="roundRect">
            <a:avLst>
              <a:gd fmla="val 94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413302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/>
          <p:nvPr/>
        </p:nvSpPr>
        <p:spPr>
          <a:xfrm>
            <a:off x="1530906" y="6352699"/>
            <a:ext cx="120788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Frecuencia: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Una vez por semana en un día distinto y en la franja horaria de la cursada regular.</a:t>
            </a:r>
            <a:endParaRPr b="0" i="0" sz="1750" u="none" cap="none" strike="noStrike"/>
          </a:p>
        </p:txBody>
      </p:sp>
      <p:pic>
        <p:nvPicPr>
          <p:cNvPr descr="preencoded.png" id="254" name="Google Shape;2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793790" y="7231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Enfoque inmersivo</a:t>
            </a:r>
            <a:endParaRPr b="0" i="0" sz="4450" u="none" cap="none" strike="noStrike"/>
          </a:p>
        </p:txBody>
      </p:sp>
      <p:sp>
        <p:nvSpPr>
          <p:cNvPr id="261" name="Google Shape;261;p10"/>
          <p:cNvSpPr/>
          <p:nvPr/>
        </p:nvSpPr>
        <p:spPr>
          <a:xfrm>
            <a:off x="793790" y="1998974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793790" y="2290048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 este curso utilizaremos un enfoque inmersivo como herramienta fundamental para que puedan experimentar los roles mas solicitados en el mercado. Este curso va más allá de la enseñanza de programación; su objetivo es prepararlos para enfrentarse a problemas del mundo real en entornos laborales.</a:t>
            </a:r>
            <a:endParaRPr b="0" i="0" sz="1750" u="none" cap="none" strike="noStrike"/>
          </a:p>
        </p:txBody>
      </p:sp>
      <p:sp>
        <p:nvSpPr>
          <p:cNvPr id="263" name="Google Shape;263;p10"/>
          <p:cNvSpPr/>
          <p:nvPr/>
        </p:nvSpPr>
        <p:spPr>
          <a:xfrm>
            <a:off x="793790" y="363390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Este enfoque nos ayuda a:</a:t>
            </a:r>
            <a:endParaRPr b="0" i="0" sz="1750" u="none" cap="none" strike="noStrike"/>
          </a:p>
        </p:txBody>
      </p:sp>
      <p:sp>
        <p:nvSpPr>
          <p:cNvPr id="264" name="Google Shape;264;p10"/>
          <p:cNvSpPr/>
          <p:nvPr/>
        </p:nvSpPr>
        <p:spPr>
          <a:xfrm>
            <a:off x="793790" y="450711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78860" y="454961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266" name="Google Shape;266;p10"/>
          <p:cNvSpPr/>
          <p:nvPr/>
        </p:nvSpPr>
        <p:spPr>
          <a:xfrm>
            <a:off x="1530906" y="4507111"/>
            <a:ext cx="235350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Conectar con situaciones reales.</a:t>
            </a:r>
            <a:endParaRPr b="0" i="0" sz="2200" u="none" cap="none" strike="noStrike"/>
          </a:p>
        </p:txBody>
      </p:sp>
      <p:sp>
        <p:nvSpPr>
          <p:cNvPr id="267" name="Google Shape;267;p10"/>
          <p:cNvSpPr/>
          <p:nvPr/>
        </p:nvSpPr>
        <p:spPr>
          <a:xfrm>
            <a:off x="4111228" y="450711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196298" y="454961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269" name="Google Shape;269;p10"/>
          <p:cNvSpPr/>
          <p:nvPr/>
        </p:nvSpPr>
        <p:spPr>
          <a:xfrm>
            <a:off x="4848344" y="4507111"/>
            <a:ext cx="235350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Desarrollar pensamiento crítico.</a:t>
            </a:r>
            <a:endParaRPr b="0" i="0" sz="2200" u="none" cap="none" strike="noStrike"/>
          </a:p>
        </p:txBody>
      </p:sp>
      <p:sp>
        <p:nvSpPr>
          <p:cNvPr id="270" name="Google Shape;270;p10"/>
          <p:cNvSpPr/>
          <p:nvPr/>
        </p:nvSpPr>
        <p:spPr>
          <a:xfrm>
            <a:off x="7428667" y="450711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7513737" y="454961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650" u="none" cap="none" strike="noStrike"/>
          </a:p>
        </p:txBody>
      </p:sp>
      <p:sp>
        <p:nvSpPr>
          <p:cNvPr id="272" name="Google Shape;272;p10"/>
          <p:cNvSpPr/>
          <p:nvPr/>
        </p:nvSpPr>
        <p:spPr>
          <a:xfrm>
            <a:off x="8165783" y="4507111"/>
            <a:ext cx="235350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Hacer el aprendizaje más significativo.</a:t>
            </a:r>
            <a:endParaRPr b="0" i="0" sz="2200" u="none" cap="none" strike="noStrike"/>
          </a:p>
        </p:txBody>
      </p:sp>
      <p:sp>
        <p:nvSpPr>
          <p:cNvPr id="273" name="Google Shape;273;p10"/>
          <p:cNvSpPr/>
          <p:nvPr/>
        </p:nvSpPr>
        <p:spPr>
          <a:xfrm>
            <a:off x="10746105" y="450711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0831175" y="4549616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2650" u="none" cap="none" strike="noStrike"/>
          </a:p>
        </p:txBody>
      </p:sp>
      <p:sp>
        <p:nvSpPr>
          <p:cNvPr id="275" name="Google Shape;275;p10"/>
          <p:cNvSpPr/>
          <p:nvPr/>
        </p:nvSpPr>
        <p:spPr>
          <a:xfrm>
            <a:off x="11483221" y="4507111"/>
            <a:ext cx="235350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Vivir la experiencia de un profesional.</a:t>
            </a:r>
            <a:endParaRPr b="0" i="0" sz="2200" u="none" cap="none" strike="noStrike"/>
          </a:p>
        </p:txBody>
      </p:sp>
      <p:sp>
        <p:nvSpPr>
          <p:cNvPr id="276" name="Google Shape;276;p10"/>
          <p:cNvSpPr/>
          <p:nvPr/>
        </p:nvSpPr>
        <p:spPr>
          <a:xfrm>
            <a:off x="793790" y="6179582"/>
            <a:ext cx="13042821" cy="1326713"/>
          </a:xfrm>
          <a:prstGeom prst="roundRect">
            <a:avLst>
              <a:gd fmla="val 68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523672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1530906" y="6463070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Cada ejercicio en el curso será como un capítulo de una historia. Ustedes serán los protagonistas, y su misión será utilizar las herramientas brindadas en las clases para superar los retos que se les presenten.</a:t>
            </a:r>
            <a:endParaRPr b="0" i="0" sz="1750" u="none" cap="none" strike="noStrike"/>
          </a:p>
        </p:txBody>
      </p:sp>
      <p:pic>
        <p:nvPicPr>
          <p:cNvPr descr="preencoded.png" id="279" name="Google Shape;2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648276" y="1942375"/>
            <a:ext cx="13501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Requerimientos del curso de </a:t>
            </a:r>
            <a:r>
              <a:rPr b="1" lang="en-US" sz="4450">
                <a:latin typeface="Poppins"/>
                <a:ea typeface="Poppins"/>
                <a:cs typeface="Poppins"/>
                <a:sym typeface="Poppins"/>
              </a:rPr>
              <a:t>backend java</a:t>
            </a:r>
            <a:endParaRPr b="0" i="0" sz="4450" u="none" cap="none" strike="noStrike"/>
          </a:p>
        </p:txBody>
      </p:sp>
      <p:sp>
        <p:nvSpPr>
          <p:cNvPr id="286" name="Google Shape;286;p11"/>
          <p:cNvSpPr/>
          <p:nvPr/>
        </p:nvSpPr>
        <p:spPr>
          <a:xfrm>
            <a:off x="793790" y="3218174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793790" y="3509248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Tendrás dos opciones para la realización de tu proyecto de</a:t>
            </a:r>
            <a:r>
              <a:rPr b="1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"Back-End en Java":</a:t>
            </a:r>
            <a:endParaRPr b="0" i="0" sz="2200" u="none" cap="none" strike="noStrike"/>
          </a:p>
        </p:txBody>
      </p:sp>
      <p:sp>
        <p:nvSpPr>
          <p:cNvPr id="288" name="Google Shape;288;p11"/>
          <p:cNvSpPr/>
          <p:nvPr/>
        </p:nvSpPr>
        <p:spPr>
          <a:xfrm>
            <a:off x="793790" y="4473059"/>
            <a:ext cx="510302" cy="510302"/>
          </a:xfrm>
          <a:prstGeom prst="roundRect">
            <a:avLst>
              <a:gd fmla="val 1792" name="adj"/>
            </a:avLst>
          </a:prstGeom>
          <a:solidFill>
            <a:srgbClr val="FCEC99"/>
          </a:solidFill>
          <a:ln cap="flat" cmpd="sng" w="9525">
            <a:solidFill>
              <a:srgbClr val="E2D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78860" y="451556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290" name="Google Shape;290;p11"/>
          <p:cNvSpPr/>
          <p:nvPr/>
        </p:nvSpPr>
        <p:spPr>
          <a:xfrm>
            <a:off x="1530906" y="4473059"/>
            <a:ext cx="5670947" cy="136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Hacer uso del proyecto final del curso de </a:t>
            </a:r>
            <a:r>
              <a:rPr b="1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Front-End JS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200" u="none" cap="none" strike="noStrike"/>
          </a:p>
        </p:txBody>
      </p:sp>
      <p:sp>
        <p:nvSpPr>
          <p:cNvPr id="291" name="Google Shape;291;p11"/>
          <p:cNvSpPr/>
          <p:nvPr/>
        </p:nvSpPr>
        <p:spPr>
          <a:xfrm>
            <a:off x="7428667" y="4473059"/>
            <a:ext cx="510302" cy="510302"/>
          </a:xfrm>
          <a:prstGeom prst="roundRect">
            <a:avLst>
              <a:gd fmla="val 1792" name="adj"/>
            </a:avLst>
          </a:prstGeom>
          <a:solidFill>
            <a:srgbClr val="FCEC99"/>
          </a:solidFill>
          <a:ln cap="flat" cmpd="sng" w="9525">
            <a:solidFill>
              <a:srgbClr val="E2D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513737" y="451556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293" name="Google Shape;293;p11"/>
          <p:cNvSpPr/>
          <p:nvPr/>
        </p:nvSpPr>
        <p:spPr>
          <a:xfrm>
            <a:off x="8165783" y="4473059"/>
            <a:ext cx="5670947" cy="1814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Hacer uso de un template que te proporcionaremos, el cual cumple con los requisitos pero carece de estilos y personalización.</a:t>
            </a:r>
            <a:endParaRPr b="0" i="0" sz="2200" u="none" cap="none" strike="noStrike"/>
          </a:p>
        </p:txBody>
      </p:sp>
      <p:pic>
        <p:nvPicPr>
          <p:cNvPr descr="preencoded.png" id="294" name="Google Shape;2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740323" y="746525"/>
            <a:ext cx="116535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Poppins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✨1. Proyecto curso "</a:t>
            </a:r>
            <a:r>
              <a:rPr b="1" lang="en-US" sz="4150">
                <a:latin typeface="Poppins"/>
                <a:ea typeface="Poppins"/>
                <a:cs typeface="Poppins"/>
                <a:sym typeface="Poppins"/>
              </a:rPr>
              <a:t>Backend Java</a:t>
            </a:r>
            <a:r>
              <a:rPr b="1" i="0" lang="en-US" sz="4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b="0" i="0" sz="4150" u="none" cap="none" strike="noStrike"/>
          </a:p>
        </p:txBody>
      </p:sp>
      <p:sp>
        <p:nvSpPr>
          <p:cNvPr id="301" name="Google Shape;301;p12"/>
          <p:cNvSpPr/>
          <p:nvPr/>
        </p:nvSpPr>
        <p:spPr>
          <a:xfrm>
            <a:off x="740331" y="1943957"/>
            <a:ext cx="13149739" cy="34052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740331" y="2215872"/>
            <a:ext cx="13149739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 caso de que desees continuar con el proyecto trabajando en el curso de Front-End JS, es necesario que te asegures haberlo completado correctamente. A continuación te presentaremos los requerimientos y funcionalidades esperadas para dicho proyecto:</a:t>
            </a:r>
            <a:endParaRPr b="0" i="0" sz="1650" u="none" cap="none" strike="noStrike"/>
          </a:p>
        </p:txBody>
      </p:sp>
      <p:sp>
        <p:nvSpPr>
          <p:cNvPr id="303" name="Google Shape;303;p12"/>
          <p:cNvSpPr/>
          <p:nvPr/>
        </p:nvSpPr>
        <p:spPr>
          <a:xfrm>
            <a:off x="740331" y="3342203"/>
            <a:ext cx="2885122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Gestión de Productos</a:t>
            </a:r>
            <a:endParaRPr b="0" i="0" sz="2050" u="none" cap="none" strike="noStrike"/>
          </a:p>
        </p:txBody>
      </p:sp>
      <p:sp>
        <p:nvSpPr>
          <p:cNvPr id="304" name="Google Shape;304;p12"/>
          <p:cNvSpPr/>
          <p:nvPr/>
        </p:nvSpPr>
        <p:spPr>
          <a:xfrm>
            <a:off x="740331" y="3884176"/>
            <a:ext cx="4403646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La API deberá ofrecer endpoints que permitan:</a:t>
            </a:r>
            <a:endParaRPr b="0" i="0" sz="1650" u="none" cap="none" strike="noStrike"/>
          </a:p>
        </p:txBody>
      </p:sp>
      <p:sp>
        <p:nvSpPr>
          <p:cNvPr id="305" name="Google Shape;305;p12"/>
          <p:cNvSpPr/>
          <p:nvPr/>
        </p:nvSpPr>
        <p:spPr>
          <a:xfrm>
            <a:off x="740331" y="4635103"/>
            <a:ext cx="4403646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Listar productos disponibles.</a:t>
            </a:r>
            <a:endParaRPr b="0" i="0" sz="1650" u="none" cap="none" strike="noStrike"/>
          </a:p>
        </p:txBody>
      </p:sp>
      <p:sp>
        <p:nvSpPr>
          <p:cNvPr id="306" name="Google Shape;306;p12"/>
          <p:cNvSpPr/>
          <p:nvPr/>
        </p:nvSpPr>
        <p:spPr>
          <a:xfrm>
            <a:off x="740331" y="5047536"/>
            <a:ext cx="4403646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Obtener detalles individuales de un producto.</a:t>
            </a:r>
            <a:endParaRPr b="0" i="0" sz="1650" u="none" cap="none" strike="noStrike"/>
          </a:p>
        </p:txBody>
      </p:sp>
      <p:sp>
        <p:nvSpPr>
          <p:cNvPr id="307" name="Google Shape;307;p12"/>
          <p:cNvSpPr/>
          <p:nvPr/>
        </p:nvSpPr>
        <p:spPr>
          <a:xfrm>
            <a:off x="740331" y="5798463"/>
            <a:ext cx="4403646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Agregar nuevos productos al catálogo.</a:t>
            </a:r>
            <a:endParaRPr b="0" i="0" sz="1650" u="none" cap="none" strike="noStrike"/>
          </a:p>
        </p:txBody>
      </p:sp>
      <p:sp>
        <p:nvSpPr>
          <p:cNvPr id="308" name="Google Shape;308;p12"/>
          <p:cNvSpPr/>
          <p:nvPr/>
        </p:nvSpPr>
        <p:spPr>
          <a:xfrm>
            <a:off x="740331" y="6210895"/>
            <a:ext cx="4403646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Actualizar información de productos existentes.</a:t>
            </a:r>
            <a:endParaRPr b="0" i="0" sz="1650" u="none" cap="none" strike="noStrike"/>
          </a:p>
        </p:txBody>
      </p:sp>
      <p:sp>
        <p:nvSpPr>
          <p:cNvPr id="309" name="Google Shape;309;p12"/>
          <p:cNvSpPr/>
          <p:nvPr/>
        </p:nvSpPr>
        <p:spPr>
          <a:xfrm>
            <a:off x="740331" y="6961823"/>
            <a:ext cx="4403646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Eliminar productos.</a:t>
            </a:r>
            <a:endParaRPr b="0" i="0" sz="1650" u="none" cap="none" strike="noStrike"/>
          </a:p>
        </p:txBody>
      </p:sp>
      <p:sp>
        <p:nvSpPr>
          <p:cNvPr id="310" name="Google Shape;310;p12"/>
          <p:cNvSpPr/>
          <p:nvPr/>
        </p:nvSpPr>
        <p:spPr>
          <a:xfrm>
            <a:off x="5667613" y="3342203"/>
            <a:ext cx="342650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Cada producto deberá tener atributos como:</a:t>
            </a:r>
            <a:endParaRPr b="0" i="0" sz="2050" u="none" cap="none" strike="noStrike"/>
          </a:p>
        </p:txBody>
      </p:sp>
      <p:sp>
        <p:nvSpPr>
          <p:cNvPr id="311" name="Google Shape;311;p12"/>
          <p:cNvSpPr/>
          <p:nvPr/>
        </p:nvSpPr>
        <p:spPr>
          <a:xfrm>
            <a:off x="5667613" y="4214693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ID</a:t>
            </a:r>
            <a:endParaRPr b="0" i="0" sz="1650" u="none" cap="none" strike="noStrike"/>
          </a:p>
        </p:txBody>
      </p:sp>
      <p:sp>
        <p:nvSpPr>
          <p:cNvPr id="312" name="Google Shape;312;p12"/>
          <p:cNvSpPr/>
          <p:nvPr/>
        </p:nvSpPr>
        <p:spPr>
          <a:xfrm>
            <a:off x="5667613" y="4627126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Nombre</a:t>
            </a:r>
            <a:endParaRPr b="0" i="0" sz="1650" u="none" cap="none" strike="noStrike"/>
          </a:p>
        </p:txBody>
      </p:sp>
      <p:sp>
        <p:nvSpPr>
          <p:cNvPr id="313" name="Google Shape;313;p12"/>
          <p:cNvSpPr/>
          <p:nvPr/>
        </p:nvSpPr>
        <p:spPr>
          <a:xfrm>
            <a:off x="5667613" y="5039558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Descripción</a:t>
            </a:r>
            <a:endParaRPr b="0" i="0" sz="1650" u="none" cap="none" strike="noStrike"/>
          </a:p>
        </p:txBody>
      </p:sp>
      <p:sp>
        <p:nvSpPr>
          <p:cNvPr id="314" name="Google Shape;314;p12"/>
          <p:cNvSpPr/>
          <p:nvPr/>
        </p:nvSpPr>
        <p:spPr>
          <a:xfrm>
            <a:off x="5667613" y="5451991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Precio</a:t>
            </a:r>
            <a:endParaRPr b="0" i="0" sz="1650" u="none" cap="none" strike="noStrike"/>
          </a:p>
        </p:txBody>
      </p:sp>
      <p:sp>
        <p:nvSpPr>
          <p:cNvPr id="315" name="Google Shape;315;p12"/>
          <p:cNvSpPr/>
          <p:nvPr/>
        </p:nvSpPr>
        <p:spPr>
          <a:xfrm>
            <a:off x="5667613" y="5864423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Categoría</a:t>
            </a:r>
            <a:endParaRPr b="0" i="0" sz="1650" u="none" cap="none" strike="noStrike"/>
          </a:p>
        </p:txBody>
      </p:sp>
      <p:sp>
        <p:nvSpPr>
          <p:cNvPr id="316" name="Google Shape;316;p12"/>
          <p:cNvSpPr/>
          <p:nvPr/>
        </p:nvSpPr>
        <p:spPr>
          <a:xfrm>
            <a:off x="5667613" y="6276856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Imagen (URL)</a:t>
            </a:r>
            <a:endParaRPr b="0" i="0" sz="1650" u="none" cap="none" strike="noStrike"/>
          </a:p>
        </p:txBody>
      </p:sp>
      <p:sp>
        <p:nvSpPr>
          <p:cNvPr id="317" name="Google Shape;317;p12"/>
          <p:cNvSpPr/>
          <p:nvPr/>
        </p:nvSpPr>
        <p:spPr>
          <a:xfrm>
            <a:off x="5667613" y="6689288"/>
            <a:ext cx="3426500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Stock</a:t>
            </a:r>
            <a:endParaRPr b="0" i="0" sz="1650" u="none" cap="none" strike="noStrike"/>
          </a:p>
        </p:txBody>
      </p:sp>
      <p:sp>
        <p:nvSpPr>
          <p:cNvPr id="318" name="Google Shape;318;p12"/>
          <p:cNvSpPr/>
          <p:nvPr/>
        </p:nvSpPr>
        <p:spPr>
          <a:xfrm>
            <a:off x="9617750" y="3342203"/>
            <a:ext cx="4287441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Búsqueda y actualización de productos</a:t>
            </a:r>
            <a:endParaRPr b="0" i="0" sz="2050" u="none" cap="none" strike="noStrike"/>
          </a:p>
        </p:txBody>
      </p:sp>
      <p:sp>
        <p:nvSpPr>
          <p:cNvPr id="319" name="Google Shape;319;p12"/>
          <p:cNvSpPr/>
          <p:nvPr/>
        </p:nvSpPr>
        <p:spPr>
          <a:xfrm>
            <a:off x="9617750" y="4214693"/>
            <a:ext cx="4287441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 sistema permitirá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buscar un producto</a:t>
            </a: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por su nombre o ID.</a:t>
            </a:r>
            <a:endParaRPr b="0" i="0" sz="1650" u="none" cap="none" strike="noStrike"/>
          </a:p>
        </p:txBody>
      </p:sp>
      <p:sp>
        <p:nvSpPr>
          <p:cNvPr id="320" name="Google Shape;320;p12"/>
          <p:cNvSpPr/>
          <p:nvPr/>
        </p:nvSpPr>
        <p:spPr>
          <a:xfrm>
            <a:off x="9617750" y="4965621"/>
            <a:ext cx="4287441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Char char="•"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Si se encuentra el producto, se mostrará su información completa.</a:t>
            </a:r>
            <a:endParaRPr b="0" i="0" sz="1650" u="none" cap="none" strike="noStrike"/>
          </a:p>
        </p:txBody>
      </p:sp>
      <p:sp>
        <p:nvSpPr>
          <p:cNvPr id="321" name="Google Shape;321;p12"/>
          <p:cNvSpPr/>
          <p:nvPr/>
        </p:nvSpPr>
        <p:spPr>
          <a:xfrm>
            <a:off x="9617750" y="5716548"/>
            <a:ext cx="4287441" cy="1692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Opcionalmente, se podrá </a:t>
            </a:r>
            <a:r>
              <a:rPr b="1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actualizar</a:t>
            </a: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alguno de sus datos (precio o stock), validando que los valores sean coherentes (por ejemplo, que el stock no sea negativo).</a:t>
            </a:r>
            <a:endParaRPr b="0" i="0" sz="1650" u="none" cap="none" strike="noStrike"/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/>
          <p:nvPr/>
        </p:nvSpPr>
        <p:spPr>
          <a:xfrm>
            <a:off x="793801" y="1252775"/>
            <a:ext cx="8745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⚙️Entrega de </a:t>
            </a:r>
            <a:r>
              <a:rPr b="1" i="0" lang="en-US" sz="4450" u="none" cap="none" strike="noStrike">
                <a:solidFill>
                  <a:srgbClr val="27252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Proyecto Final</a:t>
            </a:r>
            <a:endParaRPr b="0" i="0" sz="4450" u="none" cap="none" strike="noStrike"/>
          </a:p>
        </p:txBody>
      </p:sp>
      <p:sp>
        <p:nvSpPr>
          <p:cNvPr id="329" name="Google Shape;329;p13"/>
          <p:cNvSpPr/>
          <p:nvPr/>
        </p:nvSpPr>
        <p:spPr>
          <a:xfrm>
            <a:off x="793790" y="2330086"/>
            <a:ext cx="9371767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10726579" y="1642110"/>
            <a:ext cx="31175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Roboto"/>
                <a:ea typeface="Roboto"/>
                <a:cs typeface="Roboto"/>
                <a:sym typeface="Roboto"/>
              </a:rPr>
              <a:t>Obligatorio | Entregable</a:t>
            </a:r>
            <a:endParaRPr b="0" i="0" sz="1750" u="none" cap="none" strike="noStrike"/>
          </a:p>
        </p:txBody>
      </p:sp>
      <p:sp>
        <p:nvSpPr>
          <p:cNvPr id="331" name="Google Shape;331;p13"/>
          <p:cNvSpPr/>
          <p:nvPr/>
        </p:nvSpPr>
        <p:spPr>
          <a:xfrm>
            <a:off x="793790" y="3103126"/>
            <a:ext cx="370403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Eliminación de productos</a:t>
            </a:r>
            <a:endParaRPr b="0" i="0" sz="2200" u="none" cap="none" strike="noStrike"/>
          </a:p>
        </p:txBody>
      </p:sp>
      <p:sp>
        <p:nvSpPr>
          <p:cNvPr id="332" name="Google Shape;332;p13"/>
          <p:cNvSpPr/>
          <p:nvPr/>
        </p:nvSpPr>
        <p:spPr>
          <a:xfrm>
            <a:off x="793790" y="3684270"/>
            <a:ext cx="370760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 sistema debe permitir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eliminar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un producto de la lista, identificándolo por su ID o posición en la colección.</a:t>
            </a:r>
            <a:endParaRPr b="0" i="0" sz="1750" u="none" cap="none" strike="noStrike"/>
          </a:p>
        </p:txBody>
      </p:sp>
      <p:sp>
        <p:nvSpPr>
          <p:cNvPr id="333" name="Google Shape;333;p13"/>
          <p:cNvSpPr/>
          <p:nvPr/>
        </p:nvSpPr>
        <p:spPr>
          <a:xfrm>
            <a:off x="793790" y="5215176"/>
            <a:ext cx="370760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Antes de eliminar, el sistema podría pedir confirmación (opcionales).</a:t>
            </a:r>
            <a:endParaRPr b="0" i="0" sz="1750" u="none" cap="none" strike="noStrike"/>
          </a:p>
        </p:txBody>
      </p:sp>
      <p:sp>
        <p:nvSpPr>
          <p:cNvPr id="334" name="Google Shape;334;p13"/>
          <p:cNvSpPr/>
          <p:nvPr/>
        </p:nvSpPr>
        <p:spPr>
          <a:xfrm>
            <a:off x="5062418" y="3103126"/>
            <a:ext cx="29919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Creación de pedidos</a:t>
            </a:r>
            <a:endParaRPr b="0" i="0" sz="2200" u="none" cap="none" strike="noStrike"/>
          </a:p>
        </p:txBody>
      </p:sp>
      <p:sp>
        <p:nvSpPr>
          <p:cNvPr id="335" name="Google Shape;335;p13"/>
          <p:cNvSpPr/>
          <p:nvPr/>
        </p:nvSpPr>
        <p:spPr>
          <a:xfrm>
            <a:off x="5062418" y="3684270"/>
            <a:ext cx="3983593" cy="1096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Además de manejar productos, se sugiere agregar la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clase Pedido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(o </a:t>
            </a:r>
            <a:r>
              <a:rPr b="0" i="0" lang="en-US" sz="175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Orden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) que contenga:</a:t>
            </a:r>
            <a:endParaRPr b="0" i="0" sz="1750" u="none" cap="none" strike="noStrike"/>
          </a:p>
        </p:txBody>
      </p:sp>
      <p:sp>
        <p:nvSpPr>
          <p:cNvPr id="336" name="Google Shape;336;p13"/>
          <p:cNvSpPr/>
          <p:nvPr/>
        </p:nvSpPr>
        <p:spPr>
          <a:xfrm>
            <a:off x="5062418" y="4859893"/>
            <a:ext cx="39835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Una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lista de productos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asociados.</a:t>
            </a:r>
            <a:endParaRPr b="0" i="0" sz="1750" u="none" cap="none" strike="noStrike"/>
          </a:p>
        </p:txBody>
      </p:sp>
      <p:sp>
        <p:nvSpPr>
          <p:cNvPr id="337" name="Google Shape;337;p13"/>
          <p:cNvSpPr/>
          <p:nvPr/>
        </p:nvSpPr>
        <p:spPr>
          <a:xfrm>
            <a:off x="5062418" y="5664994"/>
            <a:ext cx="3983593" cy="145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Cantidad deseada de cada producto (por ejemplo, usando un objeto intermedio </a:t>
            </a:r>
            <a:r>
              <a:rPr b="0" i="0" lang="en-US" sz="175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LineaPedido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o similar).</a:t>
            </a:r>
            <a:endParaRPr b="0" i="0" sz="1750" u="none" cap="none" strike="noStrike"/>
          </a:p>
        </p:txBody>
      </p:sp>
      <p:sp>
        <p:nvSpPr>
          <p:cNvPr id="338" name="Google Shape;338;p13"/>
          <p:cNvSpPr/>
          <p:nvPr/>
        </p:nvSpPr>
        <p:spPr>
          <a:xfrm>
            <a:off x="9607034" y="2955608"/>
            <a:ext cx="42446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 sistema debe permitir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crear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un pedido nuevo:</a:t>
            </a:r>
            <a:endParaRPr b="0" i="0" sz="1750" u="none" cap="none" strike="noStrike"/>
          </a:p>
        </p:txBody>
      </p:sp>
      <p:sp>
        <p:nvSpPr>
          <p:cNvPr id="339" name="Google Shape;339;p13"/>
          <p:cNvSpPr/>
          <p:nvPr/>
        </p:nvSpPr>
        <p:spPr>
          <a:xfrm>
            <a:off x="9607034" y="3760708"/>
            <a:ext cx="424469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Solicitar al usuario qué productos desea y en qué cantidad (validar que haya suficiente stock).</a:t>
            </a:r>
            <a:endParaRPr b="0" i="0" sz="1750" u="none" cap="none" strike="noStrike"/>
          </a:p>
        </p:txBody>
      </p:sp>
      <p:sp>
        <p:nvSpPr>
          <p:cNvPr id="340" name="Google Shape;340;p13"/>
          <p:cNvSpPr/>
          <p:nvPr/>
        </p:nvSpPr>
        <p:spPr>
          <a:xfrm>
            <a:off x="9607034" y="4928711"/>
            <a:ext cx="4244697" cy="1096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Calcular el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costo total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(sumando </a:t>
            </a:r>
            <a:r>
              <a:rPr b="0" i="0" lang="en-US" sz="175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precio * cantidad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de cada producto).</a:t>
            </a:r>
            <a:endParaRPr b="0" i="0" sz="1750" u="none" cap="none" strike="noStrike"/>
          </a:p>
        </p:txBody>
      </p:sp>
      <p:sp>
        <p:nvSpPr>
          <p:cNvPr id="341" name="Google Shape;341;p13"/>
          <p:cNvSpPr/>
          <p:nvPr/>
        </p:nvSpPr>
        <p:spPr>
          <a:xfrm>
            <a:off x="9607034" y="6104334"/>
            <a:ext cx="424469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Disminuir el stock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de cada producto si el pedido se confirma.</a:t>
            </a:r>
            <a:endParaRPr b="0" i="0" sz="1750" u="none" cap="none" strike="noStrike"/>
          </a:p>
        </p:txBody>
      </p:sp>
      <p:pic>
        <p:nvPicPr>
          <p:cNvPr descr="preencoded.png" id="342" name="Google Shape;3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793802" y="917625"/>
            <a:ext cx="9415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⚙️Entrega de </a:t>
            </a:r>
            <a:r>
              <a:rPr b="1" i="0" lang="en-US" sz="4450" u="none" cap="none" strike="noStrike">
                <a:solidFill>
                  <a:srgbClr val="27252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Proyecto Final</a:t>
            </a:r>
            <a:endParaRPr b="0" i="0" sz="4450" u="none" cap="none" strike="noStrike"/>
          </a:p>
        </p:txBody>
      </p:sp>
      <p:sp>
        <p:nvSpPr>
          <p:cNvPr id="349" name="Google Shape;349;p14"/>
          <p:cNvSpPr/>
          <p:nvPr/>
        </p:nvSpPr>
        <p:spPr>
          <a:xfrm>
            <a:off x="793790" y="1994925"/>
            <a:ext cx="9371767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0726579" y="1306949"/>
            <a:ext cx="31175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Roboto"/>
                <a:ea typeface="Roboto"/>
                <a:cs typeface="Roboto"/>
                <a:sym typeface="Roboto"/>
              </a:rPr>
              <a:t>Obligatorio | Entregable</a:t>
            </a:r>
            <a:endParaRPr b="0" i="0" sz="1750" u="none" cap="none" strike="noStrike"/>
          </a:p>
        </p:txBody>
      </p:sp>
      <p:sp>
        <p:nvSpPr>
          <p:cNvPr id="351" name="Google Shape;351;p14"/>
          <p:cNvSpPr/>
          <p:nvPr/>
        </p:nvSpPr>
        <p:spPr>
          <a:xfrm>
            <a:off x="793790" y="2626162"/>
            <a:ext cx="38544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Menú principal interactivo</a:t>
            </a:r>
            <a:endParaRPr b="0" i="0" sz="2200" u="none" cap="none" strike="noStrike"/>
          </a:p>
        </p:txBody>
      </p:sp>
      <p:sp>
        <p:nvSpPr>
          <p:cNvPr id="352" name="Google Shape;352;p14"/>
          <p:cNvSpPr/>
          <p:nvPr/>
        </p:nvSpPr>
        <p:spPr>
          <a:xfrm>
            <a:off x="793790" y="332065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El HTML tendrá una opción que permitirá</a:t>
            </a:r>
            <a:endParaRPr b="0" i="0" sz="1750" u="none" cap="none" strike="noStrike"/>
          </a:p>
        </p:txBody>
      </p:sp>
      <p:sp>
        <p:nvSpPr>
          <p:cNvPr id="353" name="Google Shape;353;p14"/>
          <p:cNvSpPr/>
          <p:nvPr/>
        </p:nvSpPr>
        <p:spPr>
          <a:xfrm>
            <a:off x="793790" y="393870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Crear y registrar nuevos pedidos.</a:t>
            </a:r>
            <a:endParaRPr b="0" i="0" sz="1750" u="none" cap="none" strike="noStrike"/>
          </a:p>
        </p:txBody>
      </p:sp>
      <p:sp>
        <p:nvSpPr>
          <p:cNvPr id="354" name="Google Shape;354;p14"/>
          <p:cNvSpPr/>
          <p:nvPr/>
        </p:nvSpPr>
        <p:spPr>
          <a:xfrm>
            <a:off x="793790" y="438090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Historial de pedidos por usuario.</a:t>
            </a:r>
            <a:endParaRPr b="0" i="0" sz="1750" u="none" cap="none" strike="noStrike"/>
          </a:p>
        </p:txBody>
      </p:sp>
      <p:sp>
        <p:nvSpPr>
          <p:cNvPr id="355" name="Google Shape;355;p14"/>
          <p:cNvSpPr/>
          <p:nvPr/>
        </p:nvSpPr>
        <p:spPr>
          <a:xfrm>
            <a:off x="793790" y="482310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Gestión del estado de pedidos (pendiente, confirmado, enviado, entregado, cancelado).</a:t>
            </a:r>
            <a:endParaRPr b="0" i="0" sz="1750" u="none" cap="none" strike="noStrike"/>
          </a:p>
        </p:txBody>
      </p:sp>
      <p:sp>
        <p:nvSpPr>
          <p:cNvPr id="356" name="Google Shape;356;p14"/>
          <p:cNvSpPr/>
          <p:nvPr/>
        </p:nvSpPr>
        <p:spPr>
          <a:xfrm>
            <a:off x="793790" y="526530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Actualización automática de stock al confirmar pedidoAlertas o reportes cuando el stock alcance niveles mínimos.</a:t>
            </a:r>
            <a:endParaRPr b="0" i="0" sz="1750" u="none" cap="none" strike="noStrike"/>
          </a:p>
        </p:txBody>
      </p:sp>
      <p:sp>
        <p:nvSpPr>
          <p:cNvPr id="357" name="Google Shape;357;p14"/>
          <p:cNvSpPr/>
          <p:nvPr/>
        </p:nvSpPr>
        <p:spPr>
          <a:xfrm>
            <a:off x="793790" y="570749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Crear un pedido</a:t>
            </a:r>
            <a:endParaRPr b="0" i="0" sz="1750" u="none" cap="none" strike="noStrike"/>
          </a:p>
        </p:txBody>
      </p:sp>
      <p:sp>
        <p:nvSpPr>
          <p:cNvPr id="358" name="Google Shape;358;p14"/>
          <p:cNvSpPr/>
          <p:nvPr/>
        </p:nvSpPr>
        <p:spPr>
          <a:xfrm>
            <a:off x="793790" y="614969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Listar pedidos</a:t>
            </a:r>
            <a:endParaRPr b="0" i="0" sz="1750" u="none" cap="none" strike="noStrike"/>
          </a:p>
        </p:txBody>
      </p:sp>
      <p:sp>
        <p:nvSpPr>
          <p:cNvPr id="359" name="Google Shape;359;p14"/>
          <p:cNvSpPr/>
          <p:nvPr/>
        </p:nvSpPr>
        <p:spPr>
          <a:xfrm>
            <a:off x="793790" y="697182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360" name="Google Shape;360;p14"/>
          <p:cNvSpPr/>
          <p:nvPr/>
        </p:nvSpPr>
        <p:spPr>
          <a:xfrm>
            <a:off x="7599521" y="697182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61" name="Google Shape;3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7" name="Google Shape;3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5"/>
          <p:cNvSpPr/>
          <p:nvPr/>
        </p:nvSpPr>
        <p:spPr>
          <a:xfrm>
            <a:off x="6280190" y="72080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Requisitos que debe poseer el HTML :</a:t>
            </a:r>
            <a:endParaRPr b="0" i="0" sz="4450" u="none" cap="none" strike="noStrike"/>
          </a:p>
        </p:txBody>
      </p:sp>
      <p:sp>
        <p:nvSpPr>
          <p:cNvPr id="369" name="Google Shape;369;p15"/>
          <p:cNvSpPr/>
          <p:nvPr/>
        </p:nvSpPr>
        <p:spPr>
          <a:xfrm>
            <a:off x="6280190" y="2478524"/>
            <a:ext cx="7556421" cy="5030272"/>
          </a:xfrm>
          <a:prstGeom prst="roundRect">
            <a:avLst>
              <a:gd fmla="val 18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6514624" y="2712958"/>
            <a:ext cx="7087553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=================================== SISTEMA DE GESTIÓN - TECHLAB ==================================</a:t>
            </a:r>
            <a:endParaRPr b="0" i="0" sz="2200" u="none" cap="none" strike="noStrike"/>
          </a:p>
        </p:txBody>
      </p:sp>
      <p:sp>
        <p:nvSpPr>
          <p:cNvPr id="371" name="Google Shape;371;p15"/>
          <p:cNvSpPr/>
          <p:nvPr/>
        </p:nvSpPr>
        <p:spPr>
          <a:xfrm>
            <a:off x="6514624" y="4031099"/>
            <a:ext cx="7087553" cy="3243263"/>
          </a:xfrm>
          <a:prstGeom prst="roundRect">
            <a:avLst>
              <a:gd fmla="val 282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6503313" y="4031099"/>
            <a:ext cx="7110174" cy="3243263"/>
          </a:xfrm>
          <a:prstGeom prst="roundRect">
            <a:avLst>
              <a:gd fmla="val 1049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6730127" y="4201120"/>
            <a:ext cx="6656546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1) Gestionar Productos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2) Gestionar Categorías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3) Ver Carrito de Compras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4) Realizar Pedido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5) Consultar Historial de Pedidos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6) Administración (usuarios y stock)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7) Salir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pic>
        <p:nvPicPr>
          <p:cNvPr descr="preencoded.png" id="374" name="Google Shape;3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0" name="Google Shape;3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/>
          <p:nvPr/>
        </p:nvSpPr>
        <p:spPr>
          <a:xfrm>
            <a:off x="6280190" y="90225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Ejemplo de la section Gestion de productos:</a:t>
            </a:r>
            <a:endParaRPr b="0" i="0" sz="4450" u="none" cap="none" strike="noStrike"/>
          </a:p>
        </p:txBody>
      </p:sp>
      <p:sp>
        <p:nvSpPr>
          <p:cNvPr id="382" name="Google Shape;382;p16"/>
          <p:cNvSpPr/>
          <p:nvPr/>
        </p:nvSpPr>
        <p:spPr>
          <a:xfrm>
            <a:off x="6280190" y="2659975"/>
            <a:ext cx="7556421" cy="4667369"/>
          </a:xfrm>
          <a:prstGeom prst="roundRect">
            <a:avLst>
              <a:gd fmla="val 19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514624" y="2894409"/>
            <a:ext cx="7087553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=================================== ———————Gestion de Productos——————-==================================</a:t>
            </a:r>
            <a:endParaRPr b="0" i="0" sz="2200" u="none" cap="none" strike="noStrike"/>
          </a:p>
        </p:txBody>
      </p:sp>
      <p:sp>
        <p:nvSpPr>
          <p:cNvPr id="384" name="Google Shape;384;p16"/>
          <p:cNvSpPr/>
          <p:nvPr/>
        </p:nvSpPr>
        <p:spPr>
          <a:xfrm>
            <a:off x="6514624" y="4212550"/>
            <a:ext cx="7087553" cy="2880360"/>
          </a:xfrm>
          <a:prstGeom prst="roundRect">
            <a:avLst>
              <a:gd fmla="val 317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6503313" y="4212550"/>
            <a:ext cx="7110174" cy="2880360"/>
          </a:xfrm>
          <a:prstGeom prst="roundRect">
            <a:avLst>
              <a:gd fmla="val 1181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6730127" y="4382572"/>
            <a:ext cx="6656546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a) Agregar Producto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b) Listar Productos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c) Buscar Producto por ID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d) Actualizar Producto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e) Eliminar Producto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f) Volver al menú principal</a:t>
            </a:r>
            <a:br>
              <a:rPr b="0" i="0" lang="en-US" sz="1750" u="none" cap="none" strike="noStrike">
                <a:solidFill>
                  <a:srgbClr val="000000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pic>
        <p:nvPicPr>
          <p:cNvPr descr="preencoded.png" id="387" name="Google Shape;3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793803" y="626875"/>
            <a:ext cx="999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✨2. Template de Proyecto</a:t>
            </a:r>
            <a:endParaRPr b="0" i="0" sz="4450" u="none" cap="none" strike="noStrike"/>
          </a:p>
        </p:txBody>
      </p:sp>
      <p:sp>
        <p:nvSpPr>
          <p:cNvPr id="394" name="Google Shape;394;p17"/>
          <p:cNvSpPr/>
          <p:nvPr/>
        </p:nvSpPr>
        <p:spPr>
          <a:xfrm>
            <a:off x="793790" y="1902652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793790" y="2397800"/>
            <a:ext cx="4205168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 caso de elegir el template; es esencial elegir una temática adecuada que se alinee con los productos o servicios que que queres ofrecer. Una vez seleccionada la temática, realizaremos las personalizaciones y modificaciones necesarias en el template para adaptarlo a nuestras necesidades específicas.</a:t>
            </a:r>
            <a:endParaRPr b="0" i="0" sz="1750" u="none" cap="none" strike="noStrike"/>
          </a:p>
        </p:txBody>
      </p:sp>
      <p:sp>
        <p:nvSpPr>
          <p:cNvPr id="396" name="Google Shape;396;p17"/>
          <p:cNvSpPr/>
          <p:nvPr/>
        </p:nvSpPr>
        <p:spPr>
          <a:xfrm>
            <a:off x="793790" y="5505093"/>
            <a:ext cx="4205168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"/>
              <a:buNone/>
            </a:pPr>
            <a:r>
              <a:rPr b="1" i="0" lang="en-US" sz="22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Github Pages</a:t>
            </a:r>
            <a:endParaRPr b="0" i="0" sz="2200" u="none" cap="none" strike="noStrike"/>
          </a:p>
        </p:txBody>
      </p:sp>
      <p:sp>
        <p:nvSpPr>
          <p:cNvPr id="397" name="Google Shape;397;p17"/>
          <p:cNvSpPr/>
          <p:nvPr/>
        </p:nvSpPr>
        <p:spPr>
          <a:xfrm>
            <a:off x="793790" y="6162675"/>
            <a:ext cx="4205168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"/>
              <a:buNone/>
            </a:pPr>
            <a:r>
              <a:rPr b="1" i="0" lang="en-US" sz="22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</a:t>
            </a:r>
            <a:r>
              <a:rPr b="0" i="0" lang="en-US" sz="22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Repositorio de Github</a:t>
            </a:r>
            <a:endParaRPr b="0" i="0" sz="2200" u="none" cap="none" strike="noStrike"/>
          </a:p>
        </p:txBody>
      </p:sp>
      <p:sp>
        <p:nvSpPr>
          <p:cNvPr id="398" name="Google Shape;398;p17"/>
          <p:cNvSpPr/>
          <p:nvPr/>
        </p:nvSpPr>
        <p:spPr>
          <a:xfrm>
            <a:off x="5559981" y="2397800"/>
            <a:ext cx="82841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 continuación, se presentan los elementos que deberás definir:</a:t>
            </a:r>
            <a:endParaRPr b="0" i="0" sz="1750" u="none" cap="none" strike="noStrike"/>
          </a:p>
        </p:txBody>
      </p:sp>
      <p:sp>
        <p:nvSpPr>
          <p:cNvPr id="399" name="Google Shape;399;p17"/>
          <p:cNvSpPr/>
          <p:nvPr/>
        </p:nvSpPr>
        <p:spPr>
          <a:xfrm>
            <a:off x="5559981" y="2964775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Nombre del Proyecto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: Elegir un nombre que sea memorable y represente la esencia de la marca.</a:t>
            </a:r>
            <a:endParaRPr b="0" i="0" sz="1750" u="none" cap="none" strike="noStrike"/>
          </a:p>
        </p:txBody>
      </p:sp>
      <p:sp>
        <p:nvSpPr>
          <p:cNvPr id="400" name="Google Shape;400;p17"/>
          <p:cNvSpPr/>
          <p:nvPr/>
        </p:nvSpPr>
        <p:spPr>
          <a:xfrm>
            <a:off x="5559981" y="3769876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Imágenes a Utilizar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: Seleccionar imágenes que resalten los productos y reflejen la temática elegida.</a:t>
            </a:r>
            <a:endParaRPr b="0" i="0" sz="1750" u="none" cap="none" strike="noStrike"/>
          </a:p>
        </p:txBody>
      </p:sp>
      <p:sp>
        <p:nvSpPr>
          <p:cNvPr id="401" name="Google Shape;401;p17"/>
          <p:cNvSpPr/>
          <p:nvPr/>
        </p:nvSpPr>
        <p:spPr>
          <a:xfrm>
            <a:off x="5559981" y="4574977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Textos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: Redactar textos claros y persuasivos para las descripciones de productos, secciones del sitio y demás contenido relevante.</a:t>
            </a:r>
            <a:endParaRPr b="0" i="0" sz="1750" u="none" cap="none" strike="noStrike"/>
          </a:p>
        </p:txBody>
      </p:sp>
      <p:sp>
        <p:nvSpPr>
          <p:cNvPr id="402" name="Google Shape;402;p17"/>
          <p:cNvSpPr/>
          <p:nvPr/>
        </p:nvSpPr>
        <p:spPr>
          <a:xfrm>
            <a:off x="5559981" y="5380077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Paleta de Colores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: Definir una paleta de colores que complemente la temática seleccionada y que ayuda a crear una experiencia visual atractiva.</a:t>
            </a:r>
            <a:endParaRPr b="0" i="0" sz="1750" u="none" cap="none" strike="noStrike"/>
          </a:p>
        </p:txBody>
      </p:sp>
      <p:sp>
        <p:nvSpPr>
          <p:cNvPr id="403" name="Google Shape;403;p17"/>
          <p:cNvSpPr/>
          <p:nvPr/>
        </p:nvSpPr>
        <p:spPr>
          <a:xfrm>
            <a:off x="5559981" y="6309955"/>
            <a:ext cx="828413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Al finalizar estas definiciones, procederemos a implementar los temas que abordamos en la cursada, asegurándonos de que el resultado final sea un sitio de e-commerce atractivo y funcional.</a:t>
            </a:r>
            <a:endParaRPr b="0" i="0" sz="1750" u="none" cap="none" strike="noStrike"/>
          </a:p>
        </p:txBody>
      </p:sp>
      <p:pic>
        <p:nvPicPr>
          <p:cNvPr descr="preencoded.png" id="404" name="Google Shape;4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"/>
          <p:cNvSpPr/>
          <p:nvPr/>
        </p:nvSpPr>
        <p:spPr>
          <a:xfrm>
            <a:off x="0" y="0"/>
            <a:ext cx="14630400" cy="1234440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691277" y="1777603"/>
            <a:ext cx="4937879" cy="617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Poppins"/>
              <a:buNone/>
            </a:pPr>
            <a:r>
              <a:rPr b="1" i="0" lang="en-US" sz="3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 b="0" i="0" sz="3850" u="none" cap="none" strike="noStrike"/>
          </a:p>
        </p:txBody>
      </p:sp>
      <p:sp>
        <p:nvSpPr>
          <p:cNvPr id="412" name="Google Shape;412;p18"/>
          <p:cNvSpPr/>
          <p:nvPr/>
        </p:nvSpPr>
        <p:spPr>
          <a:xfrm>
            <a:off x="691277" y="2789603"/>
            <a:ext cx="13247846" cy="32266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7" y="3043952"/>
            <a:ext cx="6623923" cy="78998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/>
          <p:nvPr/>
        </p:nvSpPr>
        <p:spPr>
          <a:xfrm>
            <a:off x="888683" y="4130159"/>
            <a:ext cx="622911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oppins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Clase 01 | Introducción al curso y herramientas de trabajo</a:t>
            </a:r>
            <a:endParaRPr b="0" i="0" sz="1900" u="none" cap="none" strike="noStrike"/>
          </a:p>
        </p:txBody>
      </p:sp>
      <p:sp>
        <p:nvSpPr>
          <p:cNvPr id="415" name="Google Shape;415;p18"/>
          <p:cNvSpPr/>
          <p:nvPr/>
        </p:nvSpPr>
        <p:spPr>
          <a:xfrm>
            <a:off x="888683" y="4865846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Presentación del curso, objetivos y metodología.</a:t>
            </a:r>
            <a:endParaRPr b="0" i="0" sz="1550" u="none" cap="none" strike="noStrike"/>
          </a:p>
        </p:txBody>
      </p:sp>
      <p:sp>
        <p:nvSpPr>
          <p:cNvPr id="416" name="Google Shape;416;p18"/>
          <p:cNvSpPr/>
          <p:nvPr/>
        </p:nvSpPr>
        <p:spPr>
          <a:xfrm>
            <a:off x="888683" y="5250894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Instalación y configuración de herramientas:</a:t>
            </a:r>
            <a:endParaRPr b="0" i="0" sz="1550" u="none" cap="none" strike="noStrike"/>
          </a:p>
        </p:txBody>
      </p:sp>
      <p:sp>
        <p:nvSpPr>
          <p:cNvPr id="417" name="Google Shape;417;p18"/>
          <p:cNvSpPr/>
          <p:nvPr/>
        </p:nvSpPr>
        <p:spPr>
          <a:xfrm>
            <a:off x="888683" y="5635943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JDK (Java Development Kit).</a:t>
            </a:r>
            <a:endParaRPr b="0" i="0" sz="1550" u="none" cap="none" strike="noStrike"/>
          </a:p>
        </p:txBody>
      </p:sp>
      <p:sp>
        <p:nvSpPr>
          <p:cNvPr id="418" name="Google Shape;418;p18"/>
          <p:cNvSpPr/>
          <p:nvPr/>
        </p:nvSpPr>
        <p:spPr>
          <a:xfrm>
            <a:off x="888683" y="6020991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IntelliJ IDEA o Eclipse como IDE.</a:t>
            </a:r>
            <a:endParaRPr b="0" i="0" sz="1550" u="none" cap="none" strike="noStrike"/>
          </a:p>
        </p:txBody>
      </p:sp>
      <p:sp>
        <p:nvSpPr>
          <p:cNvPr id="419" name="Google Shape;419;p18"/>
          <p:cNvSpPr/>
          <p:nvPr/>
        </p:nvSpPr>
        <p:spPr>
          <a:xfrm>
            <a:off x="888683" y="6406039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Git para control de versiones.</a:t>
            </a:r>
            <a:endParaRPr b="0" i="0" sz="1550" u="none" cap="none" strike="noStrike"/>
          </a:p>
        </p:txBody>
      </p:sp>
      <p:sp>
        <p:nvSpPr>
          <p:cNvPr id="420" name="Google Shape;420;p18"/>
          <p:cNvSpPr/>
          <p:nvPr/>
        </p:nvSpPr>
        <p:spPr>
          <a:xfrm>
            <a:off x="888683" y="6791087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Configuración del entorno de desarrollo.</a:t>
            </a:r>
            <a:endParaRPr b="0" i="0" sz="1550" u="none" cap="none" strike="noStrike"/>
          </a:p>
        </p:txBody>
      </p:sp>
      <p:sp>
        <p:nvSpPr>
          <p:cNvPr id="421" name="Google Shape;421;p18"/>
          <p:cNvSpPr/>
          <p:nvPr/>
        </p:nvSpPr>
        <p:spPr>
          <a:xfrm>
            <a:off x="888683" y="7176135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Primer programa en Java: "Hola Mundo".</a:t>
            </a:r>
            <a:endParaRPr b="0" i="0" sz="1550" u="none" cap="none" strike="noStrike"/>
          </a:p>
        </p:txBody>
      </p:sp>
      <p:pic>
        <p:nvPicPr>
          <p:cNvPr descr="preencoded.png" id="422" name="Google Shape;4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3043952"/>
            <a:ext cx="6623923" cy="78998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7512606" y="4130159"/>
            <a:ext cx="622911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oppins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Clase 02 | Fundamentos de Programación en Java</a:t>
            </a:r>
            <a:endParaRPr b="0" i="0" sz="1900" u="none" cap="none" strike="noStrike"/>
          </a:p>
        </p:txBody>
      </p:sp>
      <p:sp>
        <p:nvSpPr>
          <p:cNvPr id="424" name="Google Shape;424;p18"/>
          <p:cNvSpPr/>
          <p:nvPr/>
        </p:nvSpPr>
        <p:spPr>
          <a:xfrm>
            <a:off x="7512606" y="4865846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Tipos de datos y variables.</a:t>
            </a:r>
            <a:endParaRPr b="0" i="0" sz="1550" u="none" cap="none" strike="noStrike"/>
          </a:p>
        </p:txBody>
      </p:sp>
      <p:sp>
        <p:nvSpPr>
          <p:cNvPr id="425" name="Google Shape;425;p18"/>
          <p:cNvSpPr/>
          <p:nvPr/>
        </p:nvSpPr>
        <p:spPr>
          <a:xfrm>
            <a:off x="7512606" y="5250894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Operadores aritméticos, lógicos y relacionales.</a:t>
            </a:r>
            <a:endParaRPr b="0" i="0" sz="1550" u="none" cap="none" strike="noStrike"/>
          </a:p>
        </p:txBody>
      </p:sp>
      <p:sp>
        <p:nvSpPr>
          <p:cNvPr id="426" name="Google Shape;426;p18"/>
          <p:cNvSpPr/>
          <p:nvPr/>
        </p:nvSpPr>
        <p:spPr>
          <a:xfrm>
            <a:off x="7512606" y="5635943"/>
            <a:ext cx="6229112" cy="31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Entrada y salida de datos.</a:t>
            </a:r>
            <a:endParaRPr b="0" i="0" sz="1550" u="none" cap="none" strike="noStrike"/>
          </a:p>
        </p:txBody>
      </p:sp>
      <p:sp>
        <p:nvSpPr>
          <p:cNvPr id="427" name="Google Shape;427;p18"/>
          <p:cNvSpPr/>
          <p:nvPr/>
        </p:nvSpPr>
        <p:spPr>
          <a:xfrm>
            <a:off x="7512606" y="6070402"/>
            <a:ext cx="6229112" cy="631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Estructuras de control: condicionales (if, else if, else) y bucles (for, while).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793790" y="3361134"/>
            <a:ext cx="60734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b="0" i="0" sz="4450" u="none" cap="none" strike="noStrike"/>
          </a:p>
        </p:txBody>
      </p:sp>
      <p:sp>
        <p:nvSpPr>
          <p:cNvPr id="435" name="Google Shape;435;p19"/>
          <p:cNvSpPr/>
          <p:nvPr/>
        </p:nvSpPr>
        <p:spPr>
          <a:xfrm>
            <a:off x="793790" y="4523456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793790" y="506968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511218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9"/>
          <p:cNvSpPr/>
          <p:nvPr/>
        </p:nvSpPr>
        <p:spPr>
          <a:xfrm>
            <a:off x="1530906" y="5069681"/>
            <a:ext cx="332339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Presentación del curso</a:t>
            </a:r>
            <a:endParaRPr b="0" i="0" sz="2200" u="none" cap="none" strike="noStrike"/>
          </a:p>
        </p:txBody>
      </p:sp>
      <p:sp>
        <p:nvSpPr>
          <p:cNvPr id="439" name="Google Shape;439;p19"/>
          <p:cNvSpPr/>
          <p:nvPr/>
        </p:nvSpPr>
        <p:spPr>
          <a:xfrm>
            <a:off x="1530906" y="556010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Conocer la metodología de trabajo en TalentoTech.</a:t>
            </a:r>
            <a:endParaRPr b="0" i="0" sz="1750" u="none" cap="none" strike="noStrike"/>
          </a:p>
        </p:txBody>
      </p:sp>
      <p:sp>
        <p:nvSpPr>
          <p:cNvPr id="440" name="Google Shape;440;p19"/>
          <p:cNvSpPr/>
          <p:nvPr/>
        </p:nvSpPr>
        <p:spPr>
          <a:xfrm>
            <a:off x="7428667" y="5069681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3737" y="511218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9"/>
          <p:cNvSpPr/>
          <p:nvPr/>
        </p:nvSpPr>
        <p:spPr>
          <a:xfrm>
            <a:off x="8165783" y="5069681"/>
            <a:ext cx="382131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Configuración del entorno</a:t>
            </a:r>
            <a:endParaRPr b="0" i="0" sz="2200" u="none" cap="none" strike="noStrike"/>
          </a:p>
        </p:txBody>
      </p:sp>
      <p:sp>
        <p:nvSpPr>
          <p:cNvPr id="443" name="Google Shape;443;p19"/>
          <p:cNvSpPr/>
          <p:nvPr/>
        </p:nvSpPr>
        <p:spPr>
          <a:xfrm>
            <a:off x="8165783" y="5560100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Instalar y configurar las herramientas de desarrollo necesarias.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"/>
          <p:cNvSpPr/>
          <p:nvPr/>
        </p:nvSpPr>
        <p:spPr>
          <a:xfrm>
            <a:off x="3295531" y="3324225"/>
            <a:ext cx="8039219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Introducción a Java</a:t>
            </a:r>
            <a:endParaRPr b="0" i="0" sz="6150" u="none" cap="none" strike="noStrike"/>
          </a:p>
        </p:txBody>
      </p:sp>
      <p:sp>
        <p:nvSpPr>
          <p:cNvPr id="450" name="Google Shape;450;p20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7" name="Google Shape;4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7800" y="22098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1"/>
          <p:cNvSpPr/>
          <p:nvPr/>
        </p:nvSpPr>
        <p:spPr>
          <a:xfrm>
            <a:off x="793790" y="229933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</a:t>
            </a:r>
            <a:endParaRPr b="0" i="0" sz="4450" u="none" cap="none" strike="noStrike"/>
          </a:p>
        </p:txBody>
      </p:sp>
      <p:sp>
        <p:nvSpPr>
          <p:cNvPr id="459" name="Google Shape;459;p21"/>
          <p:cNvSpPr/>
          <p:nvPr/>
        </p:nvSpPr>
        <p:spPr>
          <a:xfrm>
            <a:off x="793790" y="3461656"/>
            <a:ext cx="57276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793790" y="3752731"/>
            <a:ext cx="57276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Java es uno de los lenguajes más populares para el desarrollo backend debido a su robustez, escalabilidad y rendimiento. Su modelo basado en la máquina virtual Java (JVM) permite que las aplicaciones sean portables y ejecutables en múltiples plataformas sin cambios en el código.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793790" y="3179683"/>
            <a:ext cx="1277231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Beneficios de Java para Desarrollo Backend</a:t>
            </a:r>
            <a:endParaRPr b="0" i="0" sz="4450" u="none" cap="none" strike="noStrike"/>
          </a:p>
        </p:txBody>
      </p:sp>
      <p:sp>
        <p:nvSpPr>
          <p:cNvPr id="468" name="Google Shape;468;p22"/>
          <p:cNvSpPr/>
          <p:nvPr/>
        </p:nvSpPr>
        <p:spPr>
          <a:xfrm>
            <a:off x="793790" y="4342004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793790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878860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471" name="Google Shape;471;p22"/>
          <p:cNvSpPr/>
          <p:nvPr/>
        </p:nvSpPr>
        <p:spPr>
          <a:xfrm>
            <a:off x="1530906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Portabilidad</a:t>
            </a:r>
            <a:endParaRPr b="0" i="0" sz="2200" u="none" cap="none" strike="noStrike"/>
          </a:p>
        </p:txBody>
      </p:sp>
      <p:sp>
        <p:nvSpPr>
          <p:cNvPr id="472" name="Google Shape;472;p22"/>
          <p:cNvSpPr/>
          <p:nvPr/>
        </p:nvSpPr>
        <p:spPr>
          <a:xfrm>
            <a:off x="1530906" y="5378648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Java permite ejecutar aplicaciones en diferentes plataformas sin modificaciones.</a:t>
            </a:r>
            <a:endParaRPr b="0" i="0" sz="1750" u="none" cap="none" strike="noStrike"/>
          </a:p>
        </p:txBody>
      </p:sp>
      <p:sp>
        <p:nvSpPr>
          <p:cNvPr id="473" name="Google Shape;473;p22"/>
          <p:cNvSpPr/>
          <p:nvPr/>
        </p:nvSpPr>
        <p:spPr>
          <a:xfrm>
            <a:off x="5216962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"/>
          <p:cNvSpPr/>
          <p:nvPr/>
        </p:nvSpPr>
        <p:spPr>
          <a:xfrm>
            <a:off x="5302032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475" name="Google Shape;475;p22"/>
          <p:cNvSpPr/>
          <p:nvPr/>
        </p:nvSpPr>
        <p:spPr>
          <a:xfrm>
            <a:off x="5954078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Robustez</a:t>
            </a:r>
            <a:endParaRPr b="0" i="0" sz="2200" u="none" cap="none" strike="noStrike"/>
          </a:p>
        </p:txBody>
      </p:sp>
      <p:sp>
        <p:nvSpPr>
          <p:cNvPr id="476" name="Google Shape;476;p22"/>
          <p:cNvSpPr/>
          <p:nvPr/>
        </p:nvSpPr>
        <p:spPr>
          <a:xfrm>
            <a:off x="5954078" y="5378648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Ofrece un sistema de gestión de memoria y manejo de excepciones.</a:t>
            </a:r>
            <a:endParaRPr b="0" i="0" sz="1750" u="none" cap="none" strike="noStrike"/>
          </a:p>
        </p:txBody>
      </p:sp>
      <p:sp>
        <p:nvSpPr>
          <p:cNvPr id="477" name="Google Shape;477;p22"/>
          <p:cNvSpPr/>
          <p:nvPr/>
        </p:nvSpPr>
        <p:spPr>
          <a:xfrm>
            <a:off x="9640133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9725204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650" u="none" cap="none" strike="noStrike"/>
          </a:p>
        </p:txBody>
      </p:sp>
      <p:sp>
        <p:nvSpPr>
          <p:cNvPr id="479" name="Google Shape;479;p22"/>
          <p:cNvSpPr/>
          <p:nvPr/>
        </p:nvSpPr>
        <p:spPr>
          <a:xfrm>
            <a:off x="10377249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b="0" i="0" sz="2200" u="none" cap="none" strike="noStrike"/>
          </a:p>
        </p:txBody>
      </p:sp>
      <p:sp>
        <p:nvSpPr>
          <p:cNvPr id="480" name="Google Shape;480;p22"/>
          <p:cNvSpPr/>
          <p:nvPr/>
        </p:nvSpPr>
        <p:spPr>
          <a:xfrm>
            <a:off x="10377249" y="5378648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Ideal para aplicaciones que necesitan crecer y manejar grandes cargas.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6" name="Google Shape;4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7488" y="1655088"/>
            <a:ext cx="4919424" cy="491942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3"/>
          <p:cNvSpPr/>
          <p:nvPr/>
        </p:nvSpPr>
        <p:spPr>
          <a:xfrm>
            <a:off x="793790" y="167009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Mejores Prácticas en Desarrollo Java</a:t>
            </a:r>
            <a:endParaRPr b="0" i="0" sz="4450" u="none" cap="none" strike="noStrike"/>
          </a:p>
        </p:txBody>
      </p:sp>
      <p:sp>
        <p:nvSpPr>
          <p:cNvPr id="488" name="Google Shape;488;p23"/>
          <p:cNvSpPr/>
          <p:nvPr/>
        </p:nvSpPr>
        <p:spPr>
          <a:xfrm>
            <a:off x="793790" y="3541190"/>
            <a:ext cx="75564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9" name="Google Shape;4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83226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3"/>
          <p:cNvSpPr/>
          <p:nvPr/>
        </p:nvSpPr>
        <p:spPr>
          <a:xfrm>
            <a:off x="793790" y="4626054"/>
            <a:ext cx="36080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Convenciones de Nomenclatura</a:t>
            </a:r>
            <a:endParaRPr b="0" i="0" sz="2200" u="none" cap="none" strike="noStrike"/>
          </a:p>
        </p:txBody>
      </p:sp>
      <p:sp>
        <p:nvSpPr>
          <p:cNvPr id="491" name="Google Shape;491;p23"/>
          <p:cNvSpPr/>
          <p:nvPr/>
        </p:nvSpPr>
        <p:spPr>
          <a:xfrm>
            <a:off x="793790" y="5470803"/>
            <a:ext cx="36080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Utiliza nombres descriptivos y sigue las convenciones estándar de Java.</a:t>
            </a:r>
            <a:endParaRPr b="0" i="0" sz="1750" u="none" cap="none" strike="noStrike"/>
          </a:p>
        </p:txBody>
      </p:sp>
      <p:pic>
        <p:nvPicPr>
          <p:cNvPr descr="preencoded.png" id="492" name="Google Shape;49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2021" y="383226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4742021" y="46260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Documentación</a:t>
            </a:r>
            <a:endParaRPr b="0" i="0" sz="2200" u="none" cap="none" strike="noStrike"/>
          </a:p>
        </p:txBody>
      </p:sp>
      <p:sp>
        <p:nvSpPr>
          <p:cNvPr id="494" name="Google Shape;494;p23"/>
          <p:cNvSpPr/>
          <p:nvPr/>
        </p:nvSpPr>
        <p:spPr>
          <a:xfrm>
            <a:off x="4742021" y="5116473"/>
            <a:ext cx="3608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Comenta tu código de manera clara y concisa para facilitar su mantenimiento.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"/>
          <p:cNvSpPr/>
          <p:nvPr/>
        </p:nvSpPr>
        <p:spPr>
          <a:xfrm>
            <a:off x="2451973" y="3324225"/>
            <a:ext cx="9726335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Preparación del entorno</a:t>
            </a:r>
            <a:endParaRPr b="0" i="0" sz="6150" u="none" cap="none" strike="noStrike"/>
          </a:p>
        </p:txBody>
      </p:sp>
      <p:sp>
        <p:nvSpPr>
          <p:cNvPr id="501" name="Google Shape;501;p24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2" name="Google Shape;5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793790" y="3205282"/>
            <a:ext cx="726757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Herramientas Esenciales</a:t>
            </a:r>
            <a:endParaRPr b="0" i="0" sz="4450" u="none" cap="none" strike="noStrike"/>
          </a:p>
        </p:txBody>
      </p:sp>
      <p:sp>
        <p:nvSpPr>
          <p:cNvPr id="510" name="Google Shape;510;p25"/>
          <p:cNvSpPr/>
          <p:nvPr/>
        </p:nvSpPr>
        <p:spPr>
          <a:xfrm>
            <a:off x="793790" y="4367603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1" name="Google Shape;5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4026" y="465867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5"/>
          <p:cNvSpPr/>
          <p:nvPr/>
        </p:nvSpPr>
        <p:spPr>
          <a:xfrm>
            <a:off x="799267" y="5225653"/>
            <a:ext cx="41097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Java Development Kit (JDK)</a:t>
            </a:r>
            <a:endParaRPr b="0" i="0" sz="2200" u="none" cap="none" strike="noStrike"/>
          </a:p>
        </p:txBody>
      </p:sp>
      <p:sp>
        <p:nvSpPr>
          <p:cNvPr id="513" name="Google Shape;513;p25"/>
          <p:cNvSpPr/>
          <p:nvPr/>
        </p:nvSpPr>
        <p:spPr>
          <a:xfrm>
            <a:off x="793790" y="5716072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Herramienta fundamental para compilar y ejecutar programas Java.</a:t>
            </a:r>
            <a:endParaRPr b="0" i="0" sz="1750" u="none" cap="none" strike="noStrike"/>
          </a:p>
        </p:txBody>
      </p:sp>
      <p:pic>
        <p:nvPicPr>
          <p:cNvPr descr="preencoded.png" id="514" name="Google Shape;51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60" y="465867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5"/>
          <p:cNvSpPr/>
          <p:nvPr/>
        </p:nvSpPr>
        <p:spPr>
          <a:xfrm>
            <a:off x="5519261" y="5225653"/>
            <a:ext cx="359175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IDE: IntelliJ IDEA o Eclipse</a:t>
            </a:r>
            <a:endParaRPr b="0" i="0" sz="2200" u="none" cap="none" strike="noStrike"/>
          </a:p>
        </p:txBody>
      </p:sp>
      <p:sp>
        <p:nvSpPr>
          <p:cNvPr id="516" name="Google Shape;516;p25"/>
          <p:cNvSpPr/>
          <p:nvPr/>
        </p:nvSpPr>
        <p:spPr>
          <a:xfrm>
            <a:off x="5254704" y="5716072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Entorno de desarrollo integrado para facilitar la programación.</a:t>
            </a:r>
            <a:endParaRPr b="0" i="0" sz="1750" u="none" cap="none" strike="noStrike"/>
          </a:p>
        </p:txBody>
      </p:sp>
      <p:pic>
        <p:nvPicPr>
          <p:cNvPr descr="preencoded.png" id="517" name="Google Shape;5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5974" y="465867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5"/>
          <p:cNvSpPr/>
          <p:nvPr/>
        </p:nvSpPr>
        <p:spPr>
          <a:xfrm>
            <a:off x="10358438" y="52256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endParaRPr b="0" i="0" sz="2200" u="none" cap="none" strike="noStrike"/>
          </a:p>
        </p:txBody>
      </p:sp>
      <p:sp>
        <p:nvSpPr>
          <p:cNvPr id="519" name="Google Shape;519;p25"/>
          <p:cNvSpPr/>
          <p:nvPr/>
        </p:nvSpPr>
        <p:spPr>
          <a:xfrm>
            <a:off x="9715738" y="5716072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Sistema de control de versiones para colaboración eficiente.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6"/>
          <p:cNvSpPr/>
          <p:nvPr/>
        </p:nvSpPr>
        <p:spPr>
          <a:xfrm>
            <a:off x="0" y="0"/>
            <a:ext cx="14630400" cy="1311950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734616" y="2100143"/>
            <a:ext cx="5247918" cy="65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Poppins"/>
              <a:buNone/>
            </a:pPr>
            <a:r>
              <a:rPr b="1" i="0" lang="en-US" sz="4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Instalación del JDK</a:t>
            </a:r>
            <a:endParaRPr b="0" i="0" sz="4100" u="none" cap="none" strike="noStrike"/>
          </a:p>
        </p:txBody>
      </p:sp>
      <p:sp>
        <p:nvSpPr>
          <p:cNvPr id="527" name="Google Shape;527;p26"/>
          <p:cNvSpPr/>
          <p:nvPr/>
        </p:nvSpPr>
        <p:spPr>
          <a:xfrm>
            <a:off x="734616" y="3097146"/>
            <a:ext cx="11110198" cy="33814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3784" y="2126337"/>
            <a:ext cx="769620" cy="76962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6"/>
          <p:cNvSpPr/>
          <p:nvPr/>
        </p:nvSpPr>
        <p:spPr>
          <a:xfrm>
            <a:off x="970717" y="3603069"/>
            <a:ext cx="22860" cy="4048125"/>
          </a:xfrm>
          <a:prstGeom prst="roundRect">
            <a:avLst>
              <a:gd fmla="val 4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1183958" y="4063841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"/>
          <p:cNvSpPr/>
          <p:nvPr/>
        </p:nvSpPr>
        <p:spPr>
          <a:xfrm>
            <a:off x="734616" y="3839170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813316" y="3878520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450" u="none" cap="none" strike="noStrike"/>
          </a:p>
        </p:txBody>
      </p:sp>
      <p:sp>
        <p:nvSpPr>
          <p:cNvPr id="533" name="Google Shape;533;p26"/>
          <p:cNvSpPr/>
          <p:nvPr/>
        </p:nvSpPr>
        <p:spPr>
          <a:xfrm>
            <a:off x="2020253" y="3812977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Descarga</a:t>
            </a:r>
            <a:endParaRPr b="0" i="0" sz="2050" u="none" cap="none" strike="noStrike"/>
          </a:p>
        </p:txBody>
      </p:sp>
      <p:sp>
        <p:nvSpPr>
          <p:cNvPr id="534" name="Google Shape;534;p26"/>
          <p:cNvSpPr/>
          <p:nvPr/>
        </p:nvSpPr>
        <p:spPr>
          <a:xfrm>
            <a:off x="2020253" y="4266843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Visita el sitio oficial de Oracle para descargar el </a:t>
            </a:r>
            <a:r>
              <a:rPr b="0" i="0" lang="en-US" sz="165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JDK</a:t>
            </a: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50" u="none" cap="none" strike="noStrike"/>
          </a:p>
        </p:txBody>
      </p:sp>
      <p:sp>
        <p:nvSpPr>
          <p:cNvPr id="535" name="Google Shape;535;p26"/>
          <p:cNvSpPr/>
          <p:nvPr/>
        </p:nvSpPr>
        <p:spPr>
          <a:xfrm>
            <a:off x="1183958" y="5483185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/>
          <p:nvPr/>
        </p:nvSpPr>
        <p:spPr>
          <a:xfrm>
            <a:off x="734616" y="5258514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813316" y="5297865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450" u="none" cap="none" strike="noStrike"/>
          </a:p>
        </p:txBody>
      </p:sp>
      <p:sp>
        <p:nvSpPr>
          <p:cNvPr id="538" name="Google Shape;538;p26"/>
          <p:cNvSpPr/>
          <p:nvPr/>
        </p:nvSpPr>
        <p:spPr>
          <a:xfrm>
            <a:off x="2020253" y="5232321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 b="0" i="0" sz="2050" u="none" cap="none" strike="noStrike"/>
          </a:p>
        </p:txBody>
      </p:sp>
      <p:sp>
        <p:nvSpPr>
          <p:cNvPr id="539" name="Google Shape;539;p26"/>
          <p:cNvSpPr/>
          <p:nvPr/>
        </p:nvSpPr>
        <p:spPr>
          <a:xfrm>
            <a:off x="2020253" y="5686187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Ejecuta el instalador y sigue los pasos predeterminados.</a:t>
            </a:r>
            <a:endParaRPr b="0" i="0" sz="1650" u="none" cap="none" strike="noStrike"/>
          </a:p>
        </p:txBody>
      </p:sp>
      <p:sp>
        <p:nvSpPr>
          <p:cNvPr id="540" name="Google Shape;540;p26"/>
          <p:cNvSpPr/>
          <p:nvPr/>
        </p:nvSpPr>
        <p:spPr>
          <a:xfrm>
            <a:off x="1183958" y="6902529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734616" y="6677858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>
            <a:off x="813316" y="6717209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450" u="none" cap="none" strike="noStrike"/>
          </a:p>
        </p:txBody>
      </p:sp>
      <p:sp>
        <p:nvSpPr>
          <p:cNvPr id="543" name="Google Shape;543;p26"/>
          <p:cNvSpPr/>
          <p:nvPr/>
        </p:nvSpPr>
        <p:spPr>
          <a:xfrm>
            <a:off x="2020253" y="6651665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endParaRPr b="0" i="0" sz="2050" u="none" cap="none" strike="noStrike"/>
          </a:p>
        </p:txBody>
      </p:sp>
      <p:sp>
        <p:nvSpPr>
          <p:cNvPr id="544" name="Google Shape;544;p26"/>
          <p:cNvSpPr/>
          <p:nvPr/>
        </p:nvSpPr>
        <p:spPr>
          <a:xfrm>
            <a:off x="2020253" y="7105531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Configura las variables de entorno para reconocer comandos Java.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"/>
          <p:cNvSpPr/>
          <p:nvPr/>
        </p:nvSpPr>
        <p:spPr>
          <a:xfrm>
            <a:off x="0" y="0"/>
            <a:ext cx="14630400" cy="1278017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7"/>
          <p:cNvSpPr/>
          <p:nvPr/>
        </p:nvSpPr>
        <p:spPr>
          <a:xfrm>
            <a:off x="715685" y="2152293"/>
            <a:ext cx="6891218" cy="63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oppins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Instalación de IntelliJ IDEA</a:t>
            </a:r>
            <a:endParaRPr b="0" i="0" sz="4000" u="none" cap="none" strike="noStrike"/>
          </a:p>
        </p:txBody>
      </p:sp>
      <p:sp>
        <p:nvSpPr>
          <p:cNvPr id="552" name="Google Shape;552;p27"/>
          <p:cNvSpPr/>
          <p:nvPr/>
        </p:nvSpPr>
        <p:spPr>
          <a:xfrm>
            <a:off x="715685" y="3123529"/>
            <a:ext cx="10733365" cy="33099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3" name="Google Shape;5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5542" y="2302312"/>
            <a:ext cx="1351836" cy="72997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7"/>
          <p:cNvSpPr/>
          <p:nvPr/>
        </p:nvSpPr>
        <p:spPr>
          <a:xfrm>
            <a:off x="945713" y="3722370"/>
            <a:ext cx="22860" cy="3942874"/>
          </a:xfrm>
          <a:prstGeom prst="roundRect">
            <a:avLst>
              <a:gd fmla="val 4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1152882" y="4170998"/>
            <a:ext cx="613410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715685" y="3952399"/>
            <a:ext cx="460058" cy="460057"/>
          </a:xfrm>
          <a:prstGeom prst="roundRect">
            <a:avLst>
              <a:gd fmla="val 198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7"/>
          <p:cNvSpPr/>
          <p:nvPr/>
        </p:nvSpPr>
        <p:spPr>
          <a:xfrm>
            <a:off x="792361" y="3990737"/>
            <a:ext cx="3067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400" u="none" cap="none" strike="noStrike"/>
          </a:p>
        </p:txBody>
      </p:sp>
      <p:sp>
        <p:nvSpPr>
          <p:cNvPr id="558" name="Google Shape;558;p27"/>
          <p:cNvSpPr/>
          <p:nvPr/>
        </p:nvSpPr>
        <p:spPr>
          <a:xfrm>
            <a:off x="1968103" y="3926800"/>
            <a:ext cx="2556034" cy="319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Descarga</a:t>
            </a:r>
            <a:endParaRPr b="0" i="0" sz="2000" u="none" cap="none" strike="noStrike"/>
          </a:p>
        </p:txBody>
      </p:sp>
      <p:sp>
        <p:nvSpPr>
          <p:cNvPr id="559" name="Google Shape;559;p27"/>
          <p:cNvSpPr/>
          <p:nvPr/>
        </p:nvSpPr>
        <p:spPr>
          <a:xfrm>
            <a:off x="1968103" y="4368879"/>
            <a:ext cx="11946612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Visita la web de </a:t>
            </a:r>
            <a:r>
              <a:rPr b="0" i="0" lang="en-US" sz="160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JetBrains</a:t>
            </a: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y descarga la versión Community.</a:t>
            </a:r>
            <a:endParaRPr b="0" i="0" sz="1600" u="none" cap="none" strike="noStrike"/>
          </a:p>
        </p:txBody>
      </p:sp>
      <p:sp>
        <p:nvSpPr>
          <p:cNvPr id="560" name="Google Shape;560;p27"/>
          <p:cNvSpPr/>
          <p:nvPr/>
        </p:nvSpPr>
        <p:spPr>
          <a:xfrm>
            <a:off x="1152882" y="5553432"/>
            <a:ext cx="613410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715685" y="5334833"/>
            <a:ext cx="460058" cy="460057"/>
          </a:xfrm>
          <a:prstGeom prst="roundRect">
            <a:avLst>
              <a:gd fmla="val 198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792361" y="5373172"/>
            <a:ext cx="3067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400" u="none" cap="none" strike="noStrike"/>
          </a:p>
        </p:txBody>
      </p:sp>
      <p:sp>
        <p:nvSpPr>
          <p:cNvPr id="563" name="Google Shape;563;p27"/>
          <p:cNvSpPr/>
          <p:nvPr/>
        </p:nvSpPr>
        <p:spPr>
          <a:xfrm>
            <a:off x="1968103" y="5309235"/>
            <a:ext cx="2556034" cy="319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 b="0" i="0" sz="2000" u="none" cap="none" strike="noStrike"/>
          </a:p>
        </p:txBody>
      </p:sp>
      <p:sp>
        <p:nvSpPr>
          <p:cNvPr id="564" name="Google Shape;564;p27"/>
          <p:cNvSpPr/>
          <p:nvPr/>
        </p:nvSpPr>
        <p:spPr>
          <a:xfrm>
            <a:off x="1968103" y="5751314"/>
            <a:ext cx="11946612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Ejecuta el instalador y sigue los pasos indicados.</a:t>
            </a:r>
            <a:endParaRPr b="0" i="0" sz="1600" u="none" cap="none" strike="noStrike"/>
          </a:p>
        </p:txBody>
      </p:sp>
      <p:sp>
        <p:nvSpPr>
          <p:cNvPr id="565" name="Google Shape;565;p27"/>
          <p:cNvSpPr/>
          <p:nvPr/>
        </p:nvSpPr>
        <p:spPr>
          <a:xfrm>
            <a:off x="1152882" y="6935867"/>
            <a:ext cx="613410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715685" y="6717268"/>
            <a:ext cx="460058" cy="460057"/>
          </a:xfrm>
          <a:prstGeom prst="roundRect">
            <a:avLst>
              <a:gd fmla="val 198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792361" y="6755606"/>
            <a:ext cx="30670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400" u="none" cap="none" strike="noStrike"/>
          </a:p>
        </p:txBody>
      </p:sp>
      <p:sp>
        <p:nvSpPr>
          <p:cNvPr id="568" name="Google Shape;568;p27"/>
          <p:cNvSpPr/>
          <p:nvPr/>
        </p:nvSpPr>
        <p:spPr>
          <a:xfrm>
            <a:off x="1968103" y="6691670"/>
            <a:ext cx="2556034" cy="319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endParaRPr b="0" i="0" sz="2000" u="none" cap="none" strike="noStrike"/>
          </a:p>
        </p:txBody>
      </p:sp>
      <p:sp>
        <p:nvSpPr>
          <p:cNvPr id="569" name="Google Shape;569;p27"/>
          <p:cNvSpPr/>
          <p:nvPr/>
        </p:nvSpPr>
        <p:spPr>
          <a:xfrm>
            <a:off x="1968103" y="7133749"/>
            <a:ext cx="11946612" cy="3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Ajusta las opciones iniciales según tus preferencias.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8"/>
          <p:cNvSpPr/>
          <p:nvPr/>
        </p:nvSpPr>
        <p:spPr>
          <a:xfrm>
            <a:off x="0" y="0"/>
            <a:ext cx="14630400" cy="1296353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8"/>
          <p:cNvSpPr/>
          <p:nvPr/>
        </p:nvSpPr>
        <p:spPr>
          <a:xfrm>
            <a:off x="725924" y="2075855"/>
            <a:ext cx="5758220" cy="648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Poppins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Instalación de Eclipse</a:t>
            </a:r>
            <a:endParaRPr b="0" i="0" sz="4050" u="none" cap="none" strike="noStrike"/>
          </a:p>
        </p:txBody>
      </p:sp>
      <p:sp>
        <p:nvSpPr>
          <p:cNvPr id="577" name="Google Shape;577;p28"/>
          <p:cNvSpPr/>
          <p:nvPr/>
        </p:nvSpPr>
        <p:spPr>
          <a:xfrm>
            <a:off x="725924" y="3060805"/>
            <a:ext cx="9483685" cy="334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8" name="Google Shape;5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3933" y="2101691"/>
            <a:ext cx="1498044" cy="108906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8"/>
          <p:cNvSpPr/>
          <p:nvPr/>
        </p:nvSpPr>
        <p:spPr>
          <a:xfrm>
            <a:off x="959167" y="3657243"/>
            <a:ext cx="22860" cy="4000262"/>
          </a:xfrm>
          <a:prstGeom prst="roundRect">
            <a:avLst>
              <a:gd fmla="val 4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1169610" y="4112300"/>
            <a:ext cx="622221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725865" y="3890486"/>
            <a:ext cx="466606" cy="466606"/>
          </a:xfrm>
          <a:prstGeom prst="roundRect">
            <a:avLst>
              <a:gd fmla="val 1960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8"/>
          <p:cNvSpPr/>
          <p:nvPr/>
        </p:nvSpPr>
        <p:spPr>
          <a:xfrm>
            <a:off x="803553" y="3929301"/>
            <a:ext cx="311110" cy="388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400" u="none" cap="none" strike="noStrike"/>
          </a:p>
        </p:txBody>
      </p:sp>
      <p:sp>
        <p:nvSpPr>
          <p:cNvPr id="583" name="Google Shape;583;p28"/>
          <p:cNvSpPr/>
          <p:nvPr/>
        </p:nvSpPr>
        <p:spPr>
          <a:xfrm>
            <a:off x="1996321" y="3864650"/>
            <a:ext cx="2592824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Descarga</a:t>
            </a:r>
            <a:endParaRPr b="0" i="0" sz="2000" u="none" cap="none" strike="noStrike"/>
          </a:p>
        </p:txBody>
      </p:sp>
      <p:sp>
        <p:nvSpPr>
          <p:cNvPr id="584" name="Google Shape;584;p28"/>
          <p:cNvSpPr/>
          <p:nvPr/>
        </p:nvSpPr>
        <p:spPr>
          <a:xfrm>
            <a:off x="1996321" y="4313158"/>
            <a:ext cx="1190815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Visita </a:t>
            </a:r>
            <a:r>
              <a:rPr b="0" i="0" lang="en-US" sz="160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Eclipse</a:t>
            </a: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Downloads y obtén "Eclipse IDE for Java Developers".</a:t>
            </a:r>
            <a:endParaRPr b="0" i="0" sz="1600" u="none" cap="none" strike="noStrike"/>
          </a:p>
        </p:txBody>
      </p:sp>
      <p:sp>
        <p:nvSpPr>
          <p:cNvPr id="585" name="Google Shape;585;p28"/>
          <p:cNvSpPr/>
          <p:nvPr/>
        </p:nvSpPr>
        <p:spPr>
          <a:xfrm>
            <a:off x="1169610" y="5514856"/>
            <a:ext cx="622221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725865" y="5293043"/>
            <a:ext cx="466606" cy="466606"/>
          </a:xfrm>
          <a:prstGeom prst="roundRect">
            <a:avLst>
              <a:gd fmla="val 1960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803553" y="5331857"/>
            <a:ext cx="311110" cy="388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400" u="none" cap="none" strike="noStrike"/>
          </a:p>
        </p:txBody>
      </p:sp>
      <p:sp>
        <p:nvSpPr>
          <p:cNvPr id="588" name="Google Shape;588;p28"/>
          <p:cNvSpPr/>
          <p:nvPr/>
        </p:nvSpPr>
        <p:spPr>
          <a:xfrm>
            <a:off x="1996321" y="5267206"/>
            <a:ext cx="2592824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Descompresión</a:t>
            </a:r>
            <a:endParaRPr b="0" i="0" sz="2000" u="none" cap="none" strike="noStrike"/>
          </a:p>
        </p:txBody>
      </p:sp>
      <p:sp>
        <p:nvSpPr>
          <p:cNvPr id="589" name="Google Shape;589;p28"/>
          <p:cNvSpPr/>
          <p:nvPr/>
        </p:nvSpPr>
        <p:spPr>
          <a:xfrm>
            <a:off x="1996321" y="5715714"/>
            <a:ext cx="1190815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Descomprime el archivo descargado en tu ubicación preferida.</a:t>
            </a:r>
            <a:endParaRPr b="0" i="0" sz="1600" u="none" cap="none" strike="noStrike"/>
          </a:p>
        </p:txBody>
      </p:sp>
      <p:sp>
        <p:nvSpPr>
          <p:cNvPr id="590" name="Google Shape;590;p28"/>
          <p:cNvSpPr/>
          <p:nvPr/>
        </p:nvSpPr>
        <p:spPr>
          <a:xfrm>
            <a:off x="1169610" y="6917412"/>
            <a:ext cx="622221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725865" y="6695599"/>
            <a:ext cx="466606" cy="466606"/>
          </a:xfrm>
          <a:prstGeom prst="roundRect">
            <a:avLst>
              <a:gd fmla="val 1960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803553" y="6734413"/>
            <a:ext cx="311110" cy="388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400" u="none" cap="none" strike="noStrike"/>
          </a:p>
        </p:txBody>
      </p:sp>
      <p:sp>
        <p:nvSpPr>
          <p:cNvPr id="593" name="Google Shape;593;p28"/>
          <p:cNvSpPr/>
          <p:nvPr/>
        </p:nvSpPr>
        <p:spPr>
          <a:xfrm>
            <a:off x="1996321" y="6669762"/>
            <a:ext cx="2592824" cy="32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Ejecución</a:t>
            </a:r>
            <a:endParaRPr b="0" i="0" sz="2000" u="none" cap="none" strike="noStrike"/>
          </a:p>
        </p:txBody>
      </p:sp>
      <p:sp>
        <p:nvSpPr>
          <p:cNvPr id="594" name="Google Shape;594;p28"/>
          <p:cNvSpPr/>
          <p:nvPr/>
        </p:nvSpPr>
        <p:spPr>
          <a:xfrm>
            <a:off x="1996321" y="7118271"/>
            <a:ext cx="11908155" cy="33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Inicia Eclipse ejecutando el archivo eclipse.exe o equivalente.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"/>
          <p:cNvSpPr/>
          <p:nvPr/>
        </p:nvSpPr>
        <p:spPr>
          <a:xfrm>
            <a:off x="0" y="0"/>
            <a:ext cx="14630400" cy="1311950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734616" y="2100143"/>
            <a:ext cx="5247918" cy="65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Poppins"/>
              <a:buNone/>
            </a:pPr>
            <a:r>
              <a:rPr b="1" i="0" lang="en-US" sz="4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Instalación de Git</a:t>
            </a:r>
            <a:endParaRPr b="0" i="0" sz="4100" u="none" cap="none" strike="noStrike"/>
          </a:p>
        </p:txBody>
      </p:sp>
      <p:sp>
        <p:nvSpPr>
          <p:cNvPr id="602" name="Google Shape;602;p29"/>
          <p:cNvSpPr/>
          <p:nvPr/>
        </p:nvSpPr>
        <p:spPr>
          <a:xfrm>
            <a:off x="734616" y="3097146"/>
            <a:ext cx="9469398" cy="33814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3" name="Google Shape;6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4112" y="2126337"/>
            <a:ext cx="1959173" cy="81807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9"/>
          <p:cNvSpPr/>
          <p:nvPr/>
        </p:nvSpPr>
        <p:spPr>
          <a:xfrm>
            <a:off x="970717" y="3603069"/>
            <a:ext cx="22860" cy="4048125"/>
          </a:xfrm>
          <a:prstGeom prst="roundRect">
            <a:avLst>
              <a:gd fmla="val 4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1183958" y="4063841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9"/>
          <p:cNvSpPr/>
          <p:nvPr/>
        </p:nvSpPr>
        <p:spPr>
          <a:xfrm>
            <a:off x="734616" y="3839170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813316" y="3878520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450" u="none" cap="none" strike="noStrike"/>
          </a:p>
        </p:txBody>
      </p:sp>
      <p:sp>
        <p:nvSpPr>
          <p:cNvPr id="608" name="Google Shape;608;p29"/>
          <p:cNvSpPr/>
          <p:nvPr/>
        </p:nvSpPr>
        <p:spPr>
          <a:xfrm>
            <a:off x="2020253" y="3812977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Descarga</a:t>
            </a:r>
            <a:endParaRPr b="0" i="0" sz="2050" u="none" cap="none" strike="noStrike"/>
          </a:p>
        </p:txBody>
      </p:sp>
      <p:sp>
        <p:nvSpPr>
          <p:cNvPr id="609" name="Google Shape;609;p29"/>
          <p:cNvSpPr/>
          <p:nvPr/>
        </p:nvSpPr>
        <p:spPr>
          <a:xfrm>
            <a:off x="2020253" y="4266843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Visita </a:t>
            </a:r>
            <a:r>
              <a:rPr b="0" i="0" lang="en-US" sz="165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</a:t>
            </a: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Downloads y selecciona la versión para tu sistema.</a:t>
            </a:r>
            <a:endParaRPr b="0" i="0" sz="1650" u="none" cap="none" strike="noStrike"/>
          </a:p>
        </p:txBody>
      </p:sp>
      <p:sp>
        <p:nvSpPr>
          <p:cNvPr id="610" name="Google Shape;610;p29"/>
          <p:cNvSpPr/>
          <p:nvPr/>
        </p:nvSpPr>
        <p:spPr>
          <a:xfrm>
            <a:off x="1183958" y="5483185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"/>
          <p:cNvSpPr/>
          <p:nvPr/>
        </p:nvSpPr>
        <p:spPr>
          <a:xfrm>
            <a:off x="734616" y="5258514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9"/>
          <p:cNvSpPr/>
          <p:nvPr/>
        </p:nvSpPr>
        <p:spPr>
          <a:xfrm>
            <a:off x="813316" y="5297865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450" u="none" cap="none" strike="noStrike"/>
          </a:p>
        </p:txBody>
      </p:sp>
      <p:sp>
        <p:nvSpPr>
          <p:cNvPr id="613" name="Google Shape;613;p29"/>
          <p:cNvSpPr/>
          <p:nvPr/>
        </p:nvSpPr>
        <p:spPr>
          <a:xfrm>
            <a:off x="2020253" y="5232321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 b="0" i="0" sz="2050" u="none" cap="none" strike="noStrike"/>
          </a:p>
        </p:txBody>
      </p:sp>
      <p:sp>
        <p:nvSpPr>
          <p:cNvPr id="614" name="Google Shape;614;p29"/>
          <p:cNvSpPr/>
          <p:nvPr/>
        </p:nvSpPr>
        <p:spPr>
          <a:xfrm>
            <a:off x="2020253" y="5686187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Ejecuta el instalador y mantén las opciones predeterminadas.</a:t>
            </a:r>
            <a:endParaRPr b="0" i="0" sz="1650" u="none" cap="none" strike="noStrike"/>
          </a:p>
        </p:txBody>
      </p:sp>
      <p:sp>
        <p:nvSpPr>
          <p:cNvPr id="615" name="Google Shape;615;p29"/>
          <p:cNvSpPr/>
          <p:nvPr/>
        </p:nvSpPr>
        <p:spPr>
          <a:xfrm>
            <a:off x="1183958" y="6902529"/>
            <a:ext cx="629722" cy="22860"/>
          </a:xfrm>
          <a:prstGeom prst="roundRect">
            <a:avLst>
              <a:gd fmla="val 4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734616" y="6677858"/>
            <a:ext cx="472202" cy="472202"/>
          </a:xfrm>
          <a:prstGeom prst="roundRect">
            <a:avLst>
              <a:gd fmla="val 193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9"/>
          <p:cNvSpPr/>
          <p:nvPr/>
        </p:nvSpPr>
        <p:spPr>
          <a:xfrm>
            <a:off x="813316" y="6717209"/>
            <a:ext cx="314801" cy="39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Poppins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450" u="none" cap="none" strike="noStrike"/>
          </a:p>
        </p:txBody>
      </p:sp>
      <p:sp>
        <p:nvSpPr>
          <p:cNvPr id="618" name="Google Shape;618;p29"/>
          <p:cNvSpPr/>
          <p:nvPr/>
        </p:nvSpPr>
        <p:spPr>
          <a:xfrm>
            <a:off x="2020253" y="6651665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endParaRPr b="0" i="0" sz="2050" u="none" cap="none" strike="noStrike"/>
          </a:p>
        </p:txBody>
      </p:sp>
      <p:sp>
        <p:nvSpPr>
          <p:cNvPr id="619" name="Google Shape;619;p29"/>
          <p:cNvSpPr/>
          <p:nvPr/>
        </p:nvSpPr>
        <p:spPr>
          <a:xfrm>
            <a:off x="2020253" y="7105531"/>
            <a:ext cx="11875532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Abre una terminal y configura tu nombre y correo electrónico.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0"/>
          <p:cNvSpPr/>
          <p:nvPr/>
        </p:nvSpPr>
        <p:spPr>
          <a:xfrm>
            <a:off x="0" y="0"/>
            <a:ext cx="14630400" cy="131980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739140" y="2408634"/>
            <a:ext cx="10274260" cy="65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Poppins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Importancia del Entorno de Desarrollo</a:t>
            </a:r>
            <a:endParaRPr b="0" i="0" sz="4150" u="none" cap="none" strike="noStrike"/>
          </a:p>
        </p:txBody>
      </p:sp>
      <p:pic>
        <p:nvPicPr>
          <p:cNvPr descr="preencoded.png" id="627" name="Google Shape;6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2034" y="3385185"/>
            <a:ext cx="2170033" cy="12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0"/>
          <p:cNvSpPr/>
          <p:nvPr/>
        </p:nvSpPr>
        <p:spPr>
          <a:xfrm>
            <a:off x="3878461" y="3958828"/>
            <a:ext cx="296942" cy="371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oppins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300" u="none" cap="none" strike="noStrike"/>
          </a:p>
        </p:txBody>
      </p:sp>
      <p:sp>
        <p:nvSpPr>
          <p:cNvPr id="629" name="Google Shape;629;p30"/>
          <p:cNvSpPr/>
          <p:nvPr/>
        </p:nvSpPr>
        <p:spPr>
          <a:xfrm>
            <a:off x="5323165" y="3596283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Eficiencia</a:t>
            </a:r>
            <a:endParaRPr b="0" i="0" sz="2050" u="none" cap="none" strike="noStrike"/>
          </a:p>
        </p:txBody>
      </p:sp>
      <p:sp>
        <p:nvSpPr>
          <p:cNvPr id="630" name="Google Shape;630;p30"/>
          <p:cNvSpPr/>
          <p:nvPr/>
        </p:nvSpPr>
        <p:spPr>
          <a:xfrm>
            <a:off x="5323165" y="4052888"/>
            <a:ext cx="6770013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Un entorno bien configurado aumenta la productividad del desarrollador.</a:t>
            </a:r>
            <a:endParaRPr b="0" i="0" sz="1650" u="none" cap="none" strike="noStrike"/>
          </a:p>
        </p:txBody>
      </p:sp>
      <p:sp>
        <p:nvSpPr>
          <p:cNvPr id="631" name="Google Shape;631;p30"/>
          <p:cNvSpPr/>
          <p:nvPr/>
        </p:nvSpPr>
        <p:spPr>
          <a:xfrm>
            <a:off x="5164812" y="4618673"/>
            <a:ext cx="8673703" cy="11430"/>
          </a:xfrm>
          <a:prstGeom prst="roundRect">
            <a:avLst>
              <a:gd fmla="val 8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2" name="Google Shape;63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018" y="4654629"/>
            <a:ext cx="4340185" cy="12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0"/>
          <p:cNvSpPr/>
          <p:nvPr/>
        </p:nvSpPr>
        <p:spPr>
          <a:xfrm>
            <a:off x="3878580" y="5077420"/>
            <a:ext cx="296942" cy="371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oppins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300" u="none" cap="none" strike="noStrike"/>
          </a:p>
        </p:txBody>
      </p:sp>
      <p:sp>
        <p:nvSpPr>
          <p:cNvPr id="634" name="Google Shape;634;p30"/>
          <p:cNvSpPr/>
          <p:nvPr/>
        </p:nvSpPr>
        <p:spPr>
          <a:xfrm>
            <a:off x="6408301" y="4865727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Colaboración</a:t>
            </a:r>
            <a:endParaRPr b="0" i="0" sz="2050" u="none" cap="none" strike="noStrike"/>
          </a:p>
        </p:txBody>
      </p:sp>
      <p:sp>
        <p:nvSpPr>
          <p:cNvPr id="635" name="Google Shape;635;p30"/>
          <p:cNvSpPr/>
          <p:nvPr/>
        </p:nvSpPr>
        <p:spPr>
          <a:xfrm>
            <a:off x="6408301" y="5322332"/>
            <a:ext cx="4952881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Herramientas comunes facilitan el trabajo en equipo.</a:t>
            </a:r>
            <a:endParaRPr b="0" i="0" sz="1650" u="none" cap="none" strike="noStrike"/>
          </a:p>
        </p:txBody>
      </p:sp>
      <p:sp>
        <p:nvSpPr>
          <p:cNvPr id="636" name="Google Shape;636;p30"/>
          <p:cNvSpPr/>
          <p:nvPr/>
        </p:nvSpPr>
        <p:spPr>
          <a:xfrm>
            <a:off x="6249948" y="5888117"/>
            <a:ext cx="7588568" cy="11430"/>
          </a:xfrm>
          <a:prstGeom prst="roundRect">
            <a:avLst>
              <a:gd fmla="val 8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001" y="5924074"/>
            <a:ext cx="6510218" cy="12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0"/>
          <p:cNvSpPr/>
          <p:nvPr/>
        </p:nvSpPr>
        <p:spPr>
          <a:xfrm>
            <a:off x="3878580" y="6346865"/>
            <a:ext cx="296942" cy="371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oppins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300" u="none" cap="none" strike="noStrike"/>
          </a:p>
        </p:txBody>
      </p:sp>
      <p:sp>
        <p:nvSpPr>
          <p:cNvPr id="639" name="Google Shape;639;p30"/>
          <p:cNvSpPr/>
          <p:nvPr/>
        </p:nvSpPr>
        <p:spPr>
          <a:xfrm>
            <a:off x="7493318" y="6135172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Poppi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Calidad</a:t>
            </a:r>
            <a:endParaRPr b="0" i="0" sz="2050" u="none" cap="none" strike="noStrike"/>
          </a:p>
        </p:txBody>
      </p:sp>
      <p:sp>
        <p:nvSpPr>
          <p:cNvPr id="640" name="Google Shape;640;p30"/>
          <p:cNvSpPr/>
          <p:nvPr/>
        </p:nvSpPr>
        <p:spPr>
          <a:xfrm>
            <a:off x="7493318" y="6591776"/>
            <a:ext cx="5990630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oboto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IDEs avanzados ayudan a escribir código más limpio y eficiente.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1"/>
          <p:cNvSpPr/>
          <p:nvPr/>
        </p:nvSpPr>
        <p:spPr>
          <a:xfrm>
            <a:off x="2124194" y="3324225"/>
            <a:ext cx="10382012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Nuestro primer programa</a:t>
            </a:r>
            <a:endParaRPr b="0" i="0" sz="6150" u="none" cap="none" strike="noStrike"/>
          </a:p>
        </p:txBody>
      </p:sp>
      <p:sp>
        <p:nvSpPr>
          <p:cNvPr id="647" name="Google Shape;647;p3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2"/>
          <p:cNvSpPr/>
          <p:nvPr/>
        </p:nvSpPr>
        <p:spPr>
          <a:xfrm>
            <a:off x="793790" y="3179683"/>
            <a:ext cx="1300924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 vez configurado el entorno de desarrollo</a:t>
            </a:r>
            <a:endParaRPr b="0" i="0" sz="4450" u="none" cap="none" strike="noStrike"/>
          </a:p>
        </p:txBody>
      </p:sp>
      <p:sp>
        <p:nvSpPr>
          <p:cNvPr id="656" name="Google Shape;656;p32"/>
          <p:cNvSpPr/>
          <p:nvPr/>
        </p:nvSpPr>
        <p:spPr>
          <a:xfrm>
            <a:off x="793790" y="4342004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793790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2"/>
          <p:cNvSpPr/>
          <p:nvPr/>
        </p:nvSpPr>
        <p:spPr>
          <a:xfrm>
            <a:off x="878860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659" name="Google Shape;659;p32"/>
          <p:cNvSpPr/>
          <p:nvPr/>
        </p:nvSpPr>
        <p:spPr>
          <a:xfrm>
            <a:off x="1530906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Crear Proyecto</a:t>
            </a:r>
            <a:endParaRPr b="0" i="0" sz="2200" u="none" cap="none" strike="noStrike"/>
          </a:p>
        </p:txBody>
      </p:sp>
      <p:sp>
        <p:nvSpPr>
          <p:cNvPr id="660" name="Google Shape;660;p32"/>
          <p:cNvSpPr/>
          <p:nvPr/>
        </p:nvSpPr>
        <p:spPr>
          <a:xfrm>
            <a:off x="1530906" y="537864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Inicia un nuevo proyecto en tu IDE elegido.</a:t>
            </a:r>
            <a:endParaRPr b="0" i="0" sz="1750" u="none" cap="none" strike="noStrike"/>
          </a:p>
        </p:txBody>
      </p:sp>
      <p:sp>
        <p:nvSpPr>
          <p:cNvPr id="661" name="Google Shape;661;p32"/>
          <p:cNvSpPr/>
          <p:nvPr/>
        </p:nvSpPr>
        <p:spPr>
          <a:xfrm>
            <a:off x="5216962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2"/>
          <p:cNvSpPr/>
          <p:nvPr/>
        </p:nvSpPr>
        <p:spPr>
          <a:xfrm>
            <a:off x="5302032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663" name="Google Shape;663;p32"/>
          <p:cNvSpPr/>
          <p:nvPr/>
        </p:nvSpPr>
        <p:spPr>
          <a:xfrm>
            <a:off x="5954078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Seleccionar SDK</a:t>
            </a:r>
            <a:endParaRPr b="0" i="0" sz="2200" u="none" cap="none" strike="noStrike"/>
          </a:p>
        </p:txBody>
      </p:sp>
      <p:sp>
        <p:nvSpPr>
          <p:cNvPr id="664" name="Google Shape;664;p32"/>
          <p:cNvSpPr/>
          <p:nvPr/>
        </p:nvSpPr>
        <p:spPr>
          <a:xfrm>
            <a:off x="5954078" y="537864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Asegúrate de seleccionar el JDK instalado anteriormente.</a:t>
            </a:r>
            <a:endParaRPr b="0" i="0" sz="1750" u="none" cap="none" strike="noStrike"/>
          </a:p>
        </p:txBody>
      </p:sp>
      <p:sp>
        <p:nvSpPr>
          <p:cNvPr id="665" name="Google Shape;665;p32"/>
          <p:cNvSpPr/>
          <p:nvPr/>
        </p:nvSpPr>
        <p:spPr>
          <a:xfrm>
            <a:off x="9640133" y="48882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2"/>
          <p:cNvSpPr/>
          <p:nvPr/>
        </p:nvSpPr>
        <p:spPr>
          <a:xfrm>
            <a:off x="9725204" y="49307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650" u="none" cap="none" strike="noStrike"/>
          </a:p>
        </p:txBody>
      </p:sp>
      <p:sp>
        <p:nvSpPr>
          <p:cNvPr id="667" name="Google Shape;667;p32"/>
          <p:cNvSpPr/>
          <p:nvPr/>
        </p:nvSpPr>
        <p:spPr>
          <a:xfrm>
            <a:off x="10377249" y="48882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Nombrar Proyecto</a:t>
            </a:r>
            <a:endParaRPr b="0" i="0" sz="2200" u="none" cap="none" strike="noStrike"/>
          </a:p>
        </p:txBody>
      </p:sp>
      <p:sp>
        <p:nvSpPr>
          <p:cNvPr id="668" name="Google Shape;668;p32"/>
          <p:cNvSpPr/>
          <p:nvPr/>
        </p:nvSpPr>
        <p:spPr>
          <a:xfrm>
            <a:off x="10377249" y="5378648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Asigna un nombre como "ProyectoEcommerce" a tu nuevo proyecto.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3"/>
          <p:cNvSpPr/>
          <p:nvPr/>
        </p:nvSpPr>
        <p:spPr>
          <a:xfrm>
            <a:off x="761405" y="598289"/>
            <a:ext cx="8586549" cy="679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Poppins"/>
              <a:buNone/>
            </a:pPr>
            <a:r>
              <a:rPr b="1" i="0" lang="en-US" sz="42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Creación de Paquetes y Clases</a:t>
            </a:r>
            <a:endParaRPr b="0" i="0" sz="4250" u="none" cap="none" strike="noStrike"/>
          </a:p>
        </p:txBody>
      </p:sp>
      <p:sp>
        <p:nvSpPr>
          <p:cNvPr id="675" name="Google Shape;675;p33"/>
          <p:cNvSpPr/>
          <p:nvPr/>
        </p:nvSpPr>
        <p:spPr>
          <a:xfrm>
            <a:off x="761405" y="1713050"/>
            <a:ext cx="13107591" cy="34766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1006078" y="2237065"/>
            <a:ext cx="30480" cy="5152668"/>
          </a:xfrm>
          <a:prstGeom prst="roundRect">
            <a:avLst>
              <a:gd fmla="val 3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3"/>
          <p:cNvSpPr/>
          <p:nvPr/>
        </p:nvSpPr>
        <p:spPr>
          <a:xfrm>
            <a:off x="1220331" y="2711172"/>
            <a:ext cx="65258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761345" y="2481739"/>
            <a:ext cx="489466" cy="489466"/>
          </a:xfrm>
          <a:prstGeom prst="roundRect">
            <a:avLst>
              <a:gd fmla="val 186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842903" y="2522458"/>
            <a:ext cx="326231" cy="40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550" u="none" cap="none" strike="noStrike"/>
          </a:p>
        </p:txBody>
      </p:sp>
      <p:sp>
        <p:nvSpPr>
          <p:cNvPr id="680" name="Google Shape;680;p33"/>
          <p:cNvSpPr/>
          <p:nvPr/>
        </p:nvSpPr>
        <p:spPr>
          <a:xfrm>
            <a:off x="2093952" y="2454593"/>
            <a:ext cx="2719507" cy="339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oppi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Crear Paquete</a:t>
            </a:r>
            <a:endParaRPr b="0" i="0" sz="2100" u="none" cap="none" strike="noStrike"/>
          </a:p>
        </p:txBody>
      </p:sp>
      <p:sp>
        <p:nvSpPr>
          <p:cNvPr id="681" name="Google Shape;681;p33"/>
          <p:cNvSpPr/>
          <p:nvPr/>
        </p:nvSpPr>
        <p:spPr>
          <a:xfrm>
            <a:off x="2093952" y="3012043"/>
            <a:ext cx="6183273" cy="348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Crea un nuevo paquete llamado com.techlab.inicio.</a:t>
            </a:r>
            <a:endParaRPr b="0" i="0" sz="1700" u="none" cap="none" strike="noStrike"/>
          </a:p>
        </p:txBody>
      </p:sp>
      <p:sp>
        <p:nvSpPr>
          <p:cNvPr id="682" name="Google Shape;682;p33"/>
          <p:cNvSpPr/>
          <p:nvPr/>
        </p:nvSpPr>
        <p:spPr>
          <a:xfrm>
            <a:off x="1220331" y="4269224"/>
            <a:ext cx="65258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3"/>
          <p:cNvSpPr/>
          <p:nvPr/>
        </p:nvSpPr>
        <p:spPr>
          <a:xfrm>
            <a:off x="761345" y="4039791"/>
            <a:ext cx="489466" cy="489466"/>
          </a:xfrm>
          <a:prstGeom prst="roundRect">
            <a:avLst>
              <a:gd fmla="val 186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3"/>
          <p:cNvSpPr/>
          <p:nvPr/>
        </p:nvSpPr>
        <p:spPr>
          <a:xfrm>
            <a:off x="842903" y="4080510"/>
            <a:ext cx="326231" cy="40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550" u="none" cap="none" strike="noStrike"/>
          </a:p>
        </p:txBody>
      </p:sp>
      <p:sp>
        <p:nvSpPr>
          <p:cNvPr id="685" name="Google Shape;685;p33"/>
          <p:cNvSpPr/>
          <p:nvPr/>
        </p:nvSpPr>
        <p:spPr>
          <a:xfrm>
            <a:off x="2093952" y="4012644"/>
            <a:ext cx="2719507" cy="339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oppi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Crear Clase</a:t>
            </a:r>
            <a:endParaRPr b="0" i="0" sz="2100" u="none" cap="none" strike="noStrike"/>
          </a:p>
        </p:txBody>
      </p:sp>
      <p:sp>
        <p:nvSpPr>
          <p:cNvPr id="686" name="Google Shape;686;p33"/>
          <p:cNvSpPr/>
          <p:nvPr/>
        </p:nvSpPr>
        <p:spPr>
          <a:xfrm>
            <a:off x="2093952" y="4570095"/>
            <a:ext cx="6183273" cy="696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Dentro del paquete, crea una nueva clase Java llamada HolaMundo.</a:t>
            </a:r>
            <a:endParaRPr b="0" i="0" sz="1700" u="none" cap="none" strike="noStrike"/>
          </a:p>
        </p:txBody>
      </p:sp>
      <p:sp>
        <p:nvSpPr>
          <p:cNvPr id="687" name="Google Shape;687;p33"/>
          <p:cNvSpPr/>
          <p:nvPr/>
        </p:nvSpPr>
        <p:spPr>
          <a:xfrm>
            <a:off x="1220331" y="6175296"/>
            <a:ext cx="65258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3"/>
          <p:cNvSpPr/>
          <p:nvPr/>
        </p:nvSpPr>
        <p:spPr>
          <a:xfrm>
            <a:off x="761345" y="5945862"/>
            <a:ext cx="489466" cy="489466"/>
          </a:xfrm>
          <a:prstGeom prst="roundRect">
            <a:avLst>
              <a:gd fmla="val 1868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3"/>
          <p:cNvSpPr/>
          <p:nvPr/>
        </p:nvSpPr>
        <p:spPr>
          <a:xfrm>
            <a:off x="842903" y="5986582"/>
            <a:ext cx="326231" cy="407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Poppins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550" u="none" cap="none" strike="noStrike"/>
          </a:p>
        </p:txBody>
      </p:sp>
      <p:sp>
        <p:nvSpPr>
          <p:cNvPr id="690" name="Google Shape;690;p33"/>
          <p:cNvSpPr/>
          <p:nvPr/>
        </p:nvSpPr>
        <p:spPr>
          <a:xfrm>
            <a:off x="2093952" y="5918716"/>
            <a:ext cx="2719507" cy="339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oppi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Organizar</a:t>
            </a:r>
            <a:endParaRPr b="0" i="0" sz="2100" u="none" cap="none" strike="noStrike"/>
          </a:p>
        </p:txBody>
      </p:sp>
      <p:sp>
        <p:nvSpPr>
          <p:cNvPr id="691" name="Google Shape;691;p33"/>
          <p:cNvSpPr/>
          <p:nvPr/>
        </p:nvSpPr>
        <p:spPr>
          <a:xfrm>
            <a:off x="2093952" y="6476167"/>
            <a:ext cx="6183273" cy="696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Asegúrate de que la estructura del proyecto esté correctamente organizada.</a:t>
            </a:r>
            <a:endParaRPr b="0" i="0" sz="1700" u="none" cap="none" strike="noStrike"/>
          </a:p>
        </p:txBody>
      </p:sp>
      <p:pic>
        <p:nvPicPr>
          <p:cNvPr descr="preencoded.png" id="692" name="Google Shape;6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5626" y="2237065"/>
            <a:ext cx="4854059" cy="4854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3" name="Google Shape;6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"/>
          <p:cNvSpPr/>
          <p:nvPr/>
        </p:nvSpPr>
        <p:spPr>
          <a:xfrm>
            <a:off x="721638" y="566976"/>
            <a:ext cx="8447842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Poppins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 primer ¡Hola Mundo! en Java</a:t>
            </a:r>
            <a:endParaRPr b="0" i="0" sz="4050" u="none" cap="none" strike="noStrike"/>
          </a:p>
        </p:txBody>
      </p:sp>
      <p:sp>
        <p:nvSpPr>
          <p:cNvPr id="700" name="Google Shape;700;p34"/>
          <p:cNvSpPr/>
          <p:nvPr/>
        </p:nvSpPr>
        <p:spPr>
          <a:xfrm>
            <a:off x="721638" y="3160990"/>
            <a:ext cx="6342102" cy="2948464"/>
          </a:xfrm>
          <a:prstGeom prst="roundRect">
            <a:avLst>
              <a:gd fmla="val 310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711398" y="3160990"/>
            <a:ext cx="6362581" cy="2948464"/>
          </a:xfrm>
          <a:prstGeom prst="roundRect">
            <a:avLst>
              <a:gd fmla="val 1049" name="adj"/>
            </a:avLst>
          </a:prstGeom>
          <a:solidFill>
            <a:srgbClr val="D6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917496" y="3315533"/>
            <a:ext cx="5950387" cy="2639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package com.techlab.inicio;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public class HolaMundo {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        System.out.println("¡Hola Mundo desde TechLab!");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600" u="none" cap="none" strike="noStrike">
                <a:solidFill>
                  <a:srgbClr val="272525"/>
                </a:solidFill>
                <a:highlight>
                  <a:srgbClr val="D6F5F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600" u="none" cap="none" strike="noStrike"/>
          </a:p>
        </p:txBody>
      </p:sp>
      <p:pic>
        <p:nvPicPr>
          <p:cNvPr descr="preencoded.png" id="703" name="Google Shape;70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4280" y="1752481"/>
            <a:ext cx="5765483" cy="57654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4" name="Google Shape;70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5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5"/>
          <p:cNvSpPr/>
          <p:nvPr/>
        </p:nvSpPr>
        <p:spPr>
          <a:xfrm>
            <a:off x="793790" y="2102406"/>
            <a:ext cx="867703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ejecutar el programa?</a:t>
            </a:r>
            <a:endParaRPr b="0" i="0" sz="4450" u="none" cap="none" strike="noStrike"/>
          </a:p>
        </p:txBody>
      </p:sp>
      <p:sp>
        <p:nvSpPr>
          <p:cNvPr id="712" name="Google Shape;712;p35"/>
          <p:cNvSpPr/>
          <p:nvPr/>
        </p:nvSpPr>
        <p:spPr>
          <a:xfrm>
            <a:off x="793790" y="3264727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5"/>
          <p:cNvSpPr/>
          <p:nvPr/>
        </p:nvSpPr>
        <p:spPr>
          <a:xfrm>
            <a:off x="793790" y="3810953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5"/>
          <p:cNvSpPr/>
          <p:nvPr/>
        </p:nvSpPr>
        <p:spPr>
          <a:xfrm>
            <a:off x="878860" y="385345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715" name="Google Shape;715;p35"/>
          <p:cNvSpPr/>
          <p:nvPr/>
        </p:nvSpPr>
        <p:spPr>
          <a:xfrm>
            <a:off x="1530906" y="38109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Abrir la Clase</a:t>
            </a:r>
            <a:endParaRPr b="0" i="0" sz="2200" u="none" cap="none" strike="noStrike"/>
          </a:p>
        </p:txBody>
      </p:sp>
      <p:sp>
        <p:nvSpPr>
          <p:cNvPr id="716" name="Google Shape;716;p35"/>
          <p:cNvSpPr/>
          <p:nvPr/>
        </p:nvSpPr>
        <p:spPr>
          <a:xfrm>
            <a:off x="1530906" y="4301371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Localiza y abre el archivo HolaMundo.java en tu IDE.</a:t>
            </a:r>
            <a:endParaRPr b="0" i="0" sz="1750" u="none" cap="none" strike="noStrike"/>
          </a:p>
        </p:txBody>
      </p:sp>
      <p:sp>
        <p:nvSpPr>
          <p:cNvPr id="717" name="Google Shape;717;p35"/>
          <p:cNvSpPr/>
          <p:nvPr/>
        </p:nvSpPr>
        <p:spPr>
          <a:xfrm>
            <a:off x="7428667" y="3810953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5"/>
          <p:cNvSpPr/>
          <p:nvPr/>
        </p:nvSpPr>
        <p:spPr>
          <a:xfrm>
            <a:off x="7513737" y="385345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719" name="Google Shape;719;p35"/>
          <p:cNvSpPr/>
          <p:nvPr/>
        </p:nvSpPr>
        <p:spPr>
          <a:xfrm>
            <a:off x="8165783" y="381095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Ejecutar</a:t>
            </a:r>
            <a:endParaRPr b="0" i="0" sz="2200" u="none" cap="none" strike="noStrike"/>
          </a:p>
        </p:txBody>
      </p:sp>
      <p:sp>
        <p:nvSpPr>
          <p:cNvPr id="720" name="Google Shape;720;p35"/>
          <p:cNvSpPr/>
          <p:nvPr/>
        </p:nvSpPr>
        <p:spPr>
          <a:xfrm>
            <a:off x="8165783" y="4301371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Usa la opción "Run" de tu IDE para ejecutar el programa.</a:t>
            </a:r>
            <a:endParaRPr b="0" i="0" sz="1750" u="none" cap="none" strike="noStrike"/>
          </a:p>
        </p:txBody>
      </p:sp>
      <p:sp>
        <p:nvSpPr>
          <p:cNvPr id="721" name="Google Shape;721;p35"/>
          <p:cNvSpPr/>
          <p:nvPr/>
        </p:nvSpPr>
        <p:spPr>
          <a:xfrm>
            <a:off x="793790" y="5004435"/>
            <a:ext cx="579739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Resultado Esperado</a:t>
            </a:r>
            <a:endParaRPr b="0" i="0" sz="4450" u="none" cap="none" strike="noStrike"/>
          </a:p>
        </p:txBody>
      </p:sp>
      <p:sp>
        <p:nvSpPr>
          <p:cNvPr id="722" name="Google Shape;722;p35"/>
          <p:cNvSpPr/>
          <p:nvPr/>
        </p:nvSpPr>
        <p:spPr>
          <a:xfrm>
            <a:off x="1133951" y="6308527"/>
            <a:ext cx="127026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¡Hola Mundo desde TechLab!</a:t>
            </a:r>
            <a:endParaRPr b="0" i="0" sz="1750" u="none" cap="none" strike="noStrike"/>
          </a:p>
        </p:txBody>
      </p:sp>
      <p:sp>
        <p:nvSpPr>
          <p:cNvPr id="723" name="Google Shape;723;p35"/>
          <p:cNvSpPr/>
          <p:nvPr/>
        </p:nvSpPr>
        <p:spPr>
          <a:xfrm>
            <a:off x="793790" y="6053376"/>
            <a:ext cx="30480" cy="873204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5"/>
          <p:cNvSpPr/>
          <p:nvPr/>
        </p:nvSpPr>
        <p:spPr>
          <a:xfrm>
            <a:off x="793790" y="718173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Este mensaje aparecerá en la consola, confirmando que tu programa se ejecutó correctamente.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6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793790" y="2665214"/>
            <a:ext cx="99538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Materiales y Recursos Adicionales</a:t>
            </a:r>
            <a:endParaRPr b="0" i="0" sz="4450" u="none" cap="none" strike="noStrike"/>
          </a:p>
        </p:txBody>
      </p:sp>
      <p:sp>
        <p:nvSpPr>
          <p:cNvPr id="732" name="Google Shape;732;p36"/>
          <p:cNvSpPr/>
          <p:nvPr/>
        </p:nvSpPr>
        <p:spPr>
          <a:xfrm>
            <a:off x="793790" y="3827535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3" name="Google Shape;7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78" y="411861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36"/>
          <p:cNvSpPr/>
          <p:nvPr/>
        </p:nvSpPr>
        <p:spPr>
          <a:xfrm>
            <a:off x="793790" y="4912400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Documentación Oficial de Java</a:t>
            </a:r>
            <a:endParaRPr b="0" i="0" sz="2200" u="none" cap="none" strike="noStrike"/>
          </a:p>
        </p:txBody>
      </p:sp>
      <p:sp>
        <p:nvSpPr>
          <p:cNvPr id="735" name="Google Shape;735;p36"/>
          <p:cNvSpPr/>
          <p:nvPr/>
        </p:nvSpPr>
        <p:spPr>
          <a:xfrm>
            <a:off x="793790" y="575714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Recurso esencial para aprender y consultar sobre </a:t>
            </a:r>
            <a:r>
              <a:rPr b="0" i="0" lang="en-US" sz="175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750" u="none" cap="none" strike="noStrike"/>
          </a:p>
        </p:txBody>
      </p:sp>
      <p:sp>
        <p:nvSpPr>
          <p:cNvPr id="736" name="Google Shape;736;p36"/>
          <p:cNvSpPr/>
          <p:nvPr/>
        </p:nvSpPr>
        <p:spPr>
          <a:xfrm>
            <a:off x="793790" y="6619042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737" name="Google Shape;73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593" y="411861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6"/>
          <p:cNvSpPr/>
          <p:nvPr/>
        </p:nvSpPr>
        <p:spPr>
          <a:xfrm>
            <a:off x="5897523" y="49124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Tutorial de Git</a:t>
            </a:r>
            <a:endParaRPr b="0" i="0" sz="2200" u="none" cap="none" strike="noStrike"/>
          </a:p>
        </p:txBody>
      </p:sp>
      <p:sp>
        <p:nvSpPr>
          <p:cNvPr id="739" name="Google Shape;739;p36"/>
          <p:cNvSpPr/>
          <p:nvPr/>
        </p:nvSpPr>
        <p:spPr>
          <a:xfrm>
            <a:off x="5254704" y="5402818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Guía completa para dominar el control de versiones con </a:t>
            </a:r>
            <a:r>
              <a:rPr b="0" i="0" lang="en-US" sz="175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750" u="none" cap="none" strike="noStrike"/>
          </a:p>
        </p:txBody>
      </p:sp>
      <p:sp>
        <p:nvSpPr>
          <p:cNvPr id="740" name="Google Shape;740;p36"/>
          <p:cNvSpPr/>
          <p:nvPr/>
        </p:nvSpPr>
        <p:spPr>
          <a:xfrm>
            <a:off x="5254704" y="6264712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741" name="Google Shape;74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92627" y="411861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6"/>
          <p:cNvSpPr/>
          <p:nvPr/>
        </p:nvSpPr>
        <p:spPr>
          <a:xfrm>
            <a:off x="10101620" y="4912400"/>
            <a:ext cx="33488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Videos Recomendados</a:t>
            </a:r>
            <a:endParaRPr b="0" i="0" sz="2200" u="none" cap="none" strike="noStrike"/>
          </a:p>
        </p:txBody>
      </p:sp>
      <p:sp>
        <p:nvSpPr>
          <p:cNvPr id="743" name="Google Shape;743;p36"/>
          <p:cNvSpPr/>
          <p:nvPr/>
        </p:nvSpPr>
        <p:spPr>
          <a:xfrm>
            <a:off x="9715738" y="540281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Tutoriales </a:t>
            </a:r>
            <a:r>
              <a:rPr b="0" i="0" lang="en-US" sz="1750" u="sng" cap="none" strike="noStrike">
                <a:solidFill>
                  <a:srgbClr val="29A392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sobre instalación de IDEs y uso de Git.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7"/>
          <p:cNvSpPr/>
          <p:nvPr/>
        </p:nvSpPr>
        <p:spPr>
          <a:xfrm>
            <a:off x="0" y="0"/>
            <a:ext cx="14630400" cy="1145977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7"/>
          <p:cNvSpPr/>
          <p:nvPr/>
        </p:nvSpPr>
        <p:spPr>
          <a:xfrm>
            <a:off x="641747" y="1650206"/>
            <a:ext cx="4584263" cy="572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Próximos Pasos</a:t>
            </a:r>
            <a:endParaRPr b="0" i="0" sz="3600" u="none" cap="none" strike="noStrike"/>
          </a:p>
        </p:txBody>
      </p:sp>
      <p:sp>
        <p:nvSpPr>
          <p:cNvPr id="751" name="Google Shape;751;p37"/>
          <p:cNvSpPr/>
          <p:nvPr/>
        </p:nvSpPr>
        <p:spPr>
          <a:xfrm>
            <a:off x="641747" y="2589852"/>
            <a:ext cx="13346906" cy="30480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641747" y="3238976"/>
            <a:ext cx="412552" cy="412552"/>
          </a:xfrm>
          <a:prstGeom prst="roundRect">
            <a:avLst>
              <a:gd fmla="val 221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7"/>
          <p:cNvSpPr/>
          <p:nvPr/>
        </p:nvSpPr>
        <p:spPr>
          <a:xfrm>
            <a:off x="710446" y="3273326"/>
            <a:ext cx="275034" cy="34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oppins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150" u="none" cap="none" strike="noStrike"/>
          </a:p>
        </p:txBody>
      </p:sp>
      <p:sp>
        <p:nvSpPr>
          <p:cNvPr id="754" name="Google Shape;754;p37"/>
          <p:cNvSpPr/>
          <p:nvPr/>
        </p:nvSpPr>
        <p:spPr>
          <a:xfrm>
            <a:off x="1237655" y="3238976"/>
            <a:ext cx="2292072" cy="28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Verificación</a:t>
            </a:r>
            <a:endParaRPr b="0" i="0" sz="1800" u="none" cap="none" strike="noStrike"/>
          </a:p>
        </p:txBody>
      </p:sp>
      <p:sp>
        <p:nvSpPr>
          <p:cNvPr id="755" name="Google Shape;755;p37"/>
          <p:cNvSpPr/>
          <p:nvPr/>
        </p:nvSpPr>
        <p:spPr>
          <a:xfrm>
            <a:off x="1237655" y="3708797"/>
            <a:ext cx="2951202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Asegúrate de tener todas las herramientas instaladas y funcionando.</a:t>
            </a:r>
            <a:endParaRPr b="0" i="0" sz="1400" u="none" cap="none" strike="noStrike"/>
          </a:p>
        </p:txBody>
      </p:sp>
      <p:sp>
        <p:nvSpPr>
          <p:cNvPr id="756" name="Google Shape;756;p37"/>
          <p:cNvSpPr/>
          <p:nvPr/>
        </p:nvSpPr>
        <p:spPr>
          <a:xfrm>
            <a:off x="4372213" y="3238976"/>
            <a:ext cx="412552" cy="412552"/>
          </a:xfrm>
          <a:prstGeom prst="roundRect">
            <a:avLst>
              <a:gd fmla="val 221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7"/>
          <p:cNvSpPr/>
          <p:nvPr/>
        </p:nvSpPr>
        <p:spPr>
          <a:xfrm>
            <a:off x="4440912" y="3273326"/>
            <a:ext cx="275034" cy="34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oppins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150" u="none" cap="none" strike="noStrike"/>
          </a:p>
        </p:txBody>
      </p:sp>
      <p:sp>
        <p:nvSpPr>
          <p:cNvPr id="758" name="Google Shape;758;p37"/>
          <p:cNvSpPr/>
          <p:nvPr/>
        </p:nvSpPr>
        <p:spPr>
          <a:xfrm>
            <a:off x="4968121" y="3238976"/>
            <a:ext cx="2292072" cy="28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Exploración</a:t>
            </a:r>
            <a:endParaRPr b="0" i="0" sz="1800" u="none" cap="none" strike="noStrike"/>
          </a:p>
        </p:txBody>
      </p:sp>
      <p:sp>
        <p:nvSpPr>
          <p:cNvPr id="759" name="Google Shape;759;p37"/>
          <p:cNvSpPr/>
          <p:nvPr/>
        </p:nvSpPr>
        <p:spPr>
          <a:xfrm>
            <a:off x="4968121" y="3708797"/>
            <a:ext cx="2951202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Familiarízate con las características del IDE elegido.</a:t>
            </a:r>
            <a:endParaRPr b="0" i="0" sz="1400" u="none" cap="none" strike="noStrike"/>
          </a:p>
        </p:txBody>
      </p:sp>
      <p:sp>
        <p:nvSpPr>
          <p:cNvPr id="760" name="Google Shape;760;p37"/>
          <p:cNvSpPr/>
          <p:nvPr/>
        </p:nvSpPr>
        <p:spPr>
          <a:xfrm>
            <a:off x="641747" y="4978479"/>
            <a:ext cx="412552" cy="412552"/>
          </a:xfrm>
          <a:prstGeom prst="roundRect">
            <a:avLst>
              <a:gd fmla="val 2216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7"/>
          <p:cNvSpPr/>
          <p:nvPr/>
        </p:nvSpPr>
        <p:spPr>
          <a:xfrm>
            <a:off x="710446" y="5012829"/>
            <a:ext cx="275034" cy="34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oppins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150" u="none" cap="none" strike="noStrike"/>
          </a:p>
        </p:txBody>
      </p:sp>
      <p:sp>
        <p:nvSpPr>
          <p:cNvPr id="762" name="Google Shape;762;p37"/>
          <p:cNvSpPr/>
          <p:nvPr/>
        </p:nvSpPr>
        <p:spPr>
          <a:xfrm>
            <a:off x="1237655" y="4978479"/>
            <a:ext cx="2292072" cy="28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Práctica</a:t>
            </a:r>
            <a:endParaRPr b="0" i="0" sz="1800" u="none" cap="none" strike="noStrike"/>
          </a:p>
        </p:txBody>
      </p:sp>
      <p:sp>
        <p:nvSpPr>
          <p:cNvPr id="763" name="Google Shape;763;p37"/>
          <p:cNvSpPr/>
          <p:nvPr/>
        </p:nvSpPr>
        <p:spPr>
          <a:xfrm>
            <a:off x="1237655" y="5448300"/>
            <a:ext cx="668154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Modifica el programa "Hola Mundo" con tu saludo personalizado.</a:t>
            </a:r>
            <a:endParaRPr b="0" i="0" sz="1400" u="none" cap="none" strike="noStrike"/>
          </a:p>
        </p:txBody>
      </p:sp>
      <p:pic>
        <p:nvPicPr>
          <p:cNvPr descr="preencoded.png" id="764" name="Google Shape;7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4023" y="3032760"/>
            <a:ext cx="4544973" cy="4544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8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F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8"/>
          <p:cNvSpPr/>
          <p:nvPr/>
        </p:nvSpPr>
        <p:spPr>
          <a:xfrm>
            <a:off x="793790" y="2111812"/>
            <a:ext cx="88238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Conclusión y Siguientes Pasos</a:t>
            </a:r>
            <a:endParaRPr b="0" i="0" sz="4450" u="none" cap="none" strike="noStrike"/>
          </a:p>
        </p:txBody>
      </p:sp>
      <p:sp>
        <p:nvSpPr>
          <p:cNvPr id="772" name="Google Shape;772;p38"/>
          <p:cNvSpPr/>
          <p:nvPr/>
        </p:nvSpPr>
        <p:spPr>
          <a:xfrm>
            <a:off x="1048941" y="3160752"/>
            <a:ext cx="30480" cy="4374475"/>
          </a:xfrm>
          <a:prstGeom prst="roundRect">
            <a:avLst>
              <a:gd fmla="val 30000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8"/>
          <p:cNvSpPr/>
          <p:nvPr/>
        </p:nvSpPr>
        <p:spPr>
          <a:xfrm>
            <a:off x="1273612" y="3655814"/>
            <a:ext cx="68044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8"/>
          <p:cNvSpPr/>
          <p:nvPr/>
        </p:nvSpPr>
        <p:spPr>
          <a:xfrm>
            <a:off x="793790" y="3415903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8"/>
          <p:cNvSpPr/>
          <p:nvPr/>
        </p:nvSpPr>
        <p:spPr>
          <a:xfrm>
            <a:off x="878860" y="345840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650" u="none" cap="none" strike="noStrike"/>
          </a:p>
        </p:txBody>
      </p:sp>
      <p:sp>
        <p:nvSpPr>
          <p:cNvPr id="776" name="Google Shape;776;p38"/>
          <p:cNvSpPr/>
          <p:nvPr/>
        </p:nvSpPr>
        <p:spPr>
          <a:xfrm>
            <a:off x="2183011" y="3387566"/>
            <a:ext cx="395680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Fundamentos Establecidos</a:t>
            </a:r>
            <a:endParaRPr b="0" i="0" sz="2200" u="none" cap="none" strike="noStrike"/>
          </a:p>
        </p:txBody>
      </p:sp>
      <p:sp>
        <p:nvSpPr>
          <p:cNvPr id="777" name="Google Shape;777;p38"/>
          <p:cNvSpPr/>
          <p:nvPr/>
        </p:nvSpPr>
        <p:spPr>
          <a:xfrm>
            <a:off x="2183011" y="3877985"/>
            <a:ext cx="116535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Has configurado tu entorno y comprendido la importancia de las herramientas.</a:t>
            </a:r>
            <a:endParaRPr b="0" i="0" sz="1750" u="none" cap="none" strike="noStrike"/>
          </a:p>
        </p:txBody>
      </p:sp>
      <p:sp>
        <p:nvSpPr>
          <p:cNvPr id="778" name="Google Shape;778;p38"/>
          <p:cNvSpPr/>
          <p:nvPr/>
        </p:nvSpPr>
        <p:spPr>
          <a:xfrm>
            <a:off x="1273612" y="5189577"/>
            <a:ext cx="68044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8"/>
          <p:cNvSpPr/>
          <p:nvPr/>
        </p:nvSpPr>
        <p:spPr>
          <a:xfrm>
            <a:off x="793790" y="4949666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878860" y="499217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2650" u="none" cap="none" strike="noStrike"/>
          </a:p>
        </p:txBody>
      </p:sp>
      <p:sp>
        <p:nvSpPr>
          <p:cNvPr id="781" name="Google Shape;781;p38"/>
          <p:cNvSpPr/>
          <p:nvPr/>
        </p:nvSpPr>
        <p:spPr>
          <a:xfrm>
            <a:off x="2183011" y="49213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Práctica Continua</a:t>
            </a:r>
            <a:endParaRPr b="0" i="0" sz="2200" u="none" cap="none" strike="noStrike"/>
          </a:p>
        </p:txBody>
      </p:sp>
      <p:sp>
        <p:nvSpPr>
          <p:cNvPr id="782" name="Google Shape;782;p38"/>
          <p:cNvSpPr/>
          <p:nvPr/>
        </p:nvSpPr>
        <p:spPr>
          <a:xfrm>
            <a:off x="2183011" y="5411748"/>
            <a:ext cx="116535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Continúa explorando y practicando con pequeños proyectos Java.</a:t>
            </a:r>
            <a:endParaRPr b="0" i="0" sz="1750" u="none" cap="none" strike="noStrike"/>
          </a:p>
        </p:txBody>
      </p:sp>
      <p:sp>
        <p:nvSpPr>
          <p:cNvPr id="783" name="Google Shape;783;p38"/>
          <p:cNvSpPr/>
          <p:nvPr/>
        </p:nvSpPr>
        <p:spPr>
          <a:xfrm>
            <a:off x="1273612" y="6723340"/>
            <a:ext cx="680442" cy="30480"/>
          </a:xfrm>
          <a:prstGeom prst="roundRect">
            <a:avLst>
              <a:gd fmla="val 30000" name="adj"/>
            </a:avLst>
          </a:prstGeom>
          <a:solidFill>
            <a:srgbClr val="73C8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793790" y="6483429"/>
            <a:ext cx="510302" cy="510302"/>
          </a:xfrm>
          <a:prstGeom prst="roundRect">
            <a:avLst>
              <a:gd fmla="val 1792" name="adj"/>
            </a:avLst>
          </a:prstGeom>
          <a:solidFill>
            <a:srgbClr val="8DE2D6"/>
          </a:solidFill>
          <a:ln cap="flat" cmpd="sng" w="9525">
            <a:solidFill>
              <a:srgbClr val="73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878860" y="65259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650" u="none" cap="none" strike="noStrike"/>
          </a:p>
        </p:txBody>
      </p:sp>
      <p:sp>
        <p:nvSpPr>
          <p:cNvPr id="786" name="Google Shape;786;p38"/>
          <p:cNvSpPr/>
          <p:nvPr/>
        </p:nvSpPr>
        <p:spPr>
          <a:xfrm>
            <a:off x="2183011" y="6455093"/>
            <a:ext cx="423386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Preparación para el Proyecto</a:t>
            </a:r>
            <a:endParaRPr b="0" i="0" sz="2200" u="none" cap="none" strike="noStrike"/>
          </a:p>
        </p:txBody>
      </p:sp>
      <p:sp>
        <p:nvSpPr>
          <p:cNvPr id="787" name="Google Shape;787;p38"/>
          <p:cNvSpPr/>
          <p:nvPr/>
        </p:nvSpPr>
        <p:spPr>
          <a:xfrm>
            <a:off x="2183011" y="6945511"/>
            <a:ext cx="116535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Estás listo para comenzar el desarrollo del backend para el e-commerce.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9"/>
          <p:cNvSpPr/>
          <p:nvPr/>
        </p:nvSpPr>
        <p:spPr>
          <a:xfrm>
            <a:off x="1719425" y="3253350"/>
            <a:ext cx="108909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Poppins"/>
              <a:buNone/>
            </a:pPr>
            <a:r>
              <a:rPr b="1" i="0" lang="en-US" sz="61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⚙️Ejercicios Prácticos</a:t>
            </a:r>
            <a:endParaRPr b="0" i="0" sz="6150" u="none" cap="none" strike="noStrike"/>
          </a:p>
        </p:txBody>
      </p:sp>
      <p:sp>
        <p:nvSpPr>
          <p:cNvPr id="794" name="Google Shape;794;p39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5" name="Google Shape;79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0"/>
          <p:cNvSpPr/>
          <p:nvPr/>
        </p:nvSpPr>
        <p:spPr>
          <a:xfrm>
            <a:off x="793790" y="1561624"/>
            <a:ext cx="11003280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4D4D4D"/>
                </a:solidFill>
                <a:latin typeface="Roboto"/>
                <a:ea typeface="Roboto"/>
                <a:cs typeface="Roboto"/>
                <a:sym typeface="Roboto"/>
              </a:rPr>
              <a:t>Storytelling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💭</a:t>
            </a:r>
            <a:endParaRPr b="0" i="0" sz="2200" u="none" cap="none" strike="noStrike"/>
          </a:p>
        </p:txBody>
      </p:sp>
      <p:pic>
        <p:nvPicPr>
          <p:cNvPr descr="preencoded.png" id="802" name="Google Shape;80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8092" y="1612702"/>
            <a:ext cx="1486019" cy="791408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0"/>
          <p:cNvSpPr/>
          <p:nvPr/>
        </p:nvSpPr>
        <p:spPr>
          <a:xfrm>
            <a:off x="2719268" y="2999423"/>
            <a:ext cx="91918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¡Talento Lab te está esperando!</a:t>
            </a:r>
            <a:endParaRPr b="0" i="0" sz="4450" u="none" cap="none" strike="noStrike"/>
          </a:p>
        </p:txBody>
      </p:sp>
      <p:sp>
        <p:nvSpPr>
          <p:cNvPr id="804" name="Google Shape;804;p40"/>
          <p:cNvSpPr/>
          <p:nvPr/>
        </p:nvSpPr>
        <p:spPr>
          <a:xfrm>
            <a:off x="793790" y="4048363"/>
            <a:ext cx="13042821" cy="2823567"/>
          </a:xfrm>
          <a:prstGeom prst="roundRect">
            <a:avLst>
              <a:gd fmla="val 324" name="adj"/>
            </a:avLst>
          </a:prstGeom>
          <a:solidFill>
            <a:srgbClr val="FCE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5" name="Google Shape;80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4" y="4392454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0"/>
          <p:cNvSpPr/>
          <p:nvPr/>
        </p:nvSpPr>
        <p:spPr>
          <a:xfrm>
            <a:off x="1530906" y="4331851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Imaginá que recibís una invitación para participar en el proceso de selección de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Talento Lab</a:t>
            </a: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una startup ubicada en Buenos Aires. </a:t>
            </a:r>
            <a:endParaRPr b="0" i="0" sz="1750" u="none" cap="none" strike="noStrike"/>
          </a:p>
        </p:txBody>
      </p:sp>
      <p:sp>
        <p:nvSpPr>
          <p:cNvPr id="807" name="Google Shape;807;p40"/>
          <p:cNvSpPr/>
          <p:nvPr/>
        </p:nvSpPr>
        <p:spPr>
          <a:xfrm>
            <a:off x="1530906" y="5261729"/>
            <a:ext cx="120788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 sería el reto? </a:t>
            </a:r>
            <a:endParaRPr b="0" i="0" sz="1750" u="none" cap="none" strike="noStrike"/>
          </a:p>
        </p:txBody>
      </p:sp>
      <p:sp>
        <p:nvSpPr>
          <p:cNvPr id="808" name="Google Shape;808;p40"/>
          <p:cNvSpPr/>
          <p:nvPr/>
        </p:nvSpPr>
        <p:spPr>
          <a:xfrm>
            <a:off x="1530906" y="5828705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Completar una pasantía de aprendizaje que pondrá a prueba todas tus habilidades y aprendizaje. A partir de este momento un equipo de expertos te guiarán en este emocionante viaje.</a:t>
            </a:r>
            <a:endParaRPr b="0" i="0" sz="1750" u="none" cap="none" strike="noStrike"/>
          </a:p>
        </p:txBody>
      </p:sp>
      <p:pic>
        <p:nvPicPr>
          <p:cNvPr descr="preencoded.png" id="809" name="Google Shape;80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1"/>
          <p:cNvSpPr/>
          <p:nvPr/>
        </p:nvSpPr>
        <p:spPr>
          <a:xfrm>
            <a:off x="793790" y="1617107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4D4D4D"/>
                </a:solidFill>
                <a:latin typeface="Roboto"/>
                <a:ea typeface="Roboto"/>
                <a:cs typeface="Roboto"/>
                <a:sym typeface="Roboto"/>
              </a:rPr>
              <a:t>Storytelling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💭</a:t>
            </a:r>
            <a:endParaRPr b="0" i="0" sz="2200" u="none" cap="none" strike="noStrike"/>
          </a:p>
        </p:txBody>
      </p:sp>
      <p:pic>
        <p:nvPicPr>
          <p:cNvPr descr="preencoded.png" id="816" name="Google Shape;8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159" y="3567708"/>
            <a:ext cx="3767852" cy="2006917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1"/>
          <p:cNvSpPr/>
          <p:nvPr/>
        </p:nvSpPr>
        <p:spPr>
          <a:xfrm>
            <a:off x="7599521" y="2552581"/>
            <a:ext cx="5171837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Poppins"/>
              <a:buNone/>
            </a:pPr>
            <a:r>
              <a:rPr b="1" i="0" lang="en-US" sz="35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Acerca de TalentoLab.</a:t>
            </a:r>
            <a:endParaRPr b="0" i="0" sz="3550" u="none" cap="none" strike="noStrike"/>
          </a:p>
        </p:txBody>
      </p:sp>
      <p:sp>
        <p:nvSpPr>
          <p:cNvPr id="818" name="Google Shape;818;p41"/>
          <p:cNvSpPr/>
          <p:nvPr/>
        </p:nvSpPr>
        <p:spPr>
          <a:xfrm>
            <a:off x="7599521" y="3346371"/>
            <a:ext cx="6244709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TechLab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, convertimos ideas en herramientas digitales innovadoras y confiables, ofreciendo servicios de desarrollo backend con un enfoque en la calidad y eficiencia. Nuestro compromiso es desarrollar soluciones que optimicen procesos y potencien negocios, combinando creatividad, tecnología de punta y un compromiso absoluto con la satisfacción de nuestros clientes. Tu éxito es nuestra prioridad, y nuestras soluciones están diseñadas para marcar la diferencia.</a:t>
            </a:r>
            <a:endParaRPr b="0" i="0" sz="1750" u="none" cap="none" strike="noStrike"/>
          </a:p>
        </p:txBody>
      </p:sp>
      <p:pic>
        <p:nvPicPr>
          <p:cNvPr descr="preencoded.png" id="819" name="Google Shape;81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"/>
          <p:cNvSpPr/>
          <p:nvPr/>
        </p:nvSpPr>
        <p:spPr>
          <a:xfrm>
            <a:off x="793790" y="250721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Equipo Tech Lab:</a:t>
            </a:r>
            <a:endParaRPr b="0" i="0" sz="4450" u="none" cap="none" strike="noStrike"/>
          </a:p>
        </p:txBody>
      </p:sp>
      <p:pic>
        <p:nvPicPr>
          <p:cNvPr descr="preencoded.png" id="826" name="Google Shape;82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707" y="3669625"/>
            <a:ext cx="901541" cy="901541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42"/>
          <p:cNvSpPr/>
          <p:nvPr/>
        </p:nvSpPr>
        <p:spPr>
          <a:xfrm>
            <a:off x="793790" y="4797981"/>
            <a:ext cx="3005495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Silvia</a:t>
            </a:r>
            <a:endParaRPr b="0" i="0" sz="2650" u="none" cap="none" strike="noStrike"/>
          </a:p>
        </p:txBody>
      </p:sp>
      <p:sp>
        <p:nvSpPr>
          <p:cNvPr id="828" name="Google Shape;828;p42"/>
          <p:cNvSpPr/>
          <p:nvPr/>
        </p:nvSpPr>
        <p:spPr>
          <a:xfrm>
            <a:off x="793790" y="5359360"/>
            <a:ext cx="30054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Product Owner</a:t>
            </a:r>
            <a:endParaRPr b="0" i="0" sz="1750" u="none" cap="none" strike="noStrike"/>
          </a:p>
        </p:txBody>
      </p:sp>
      <p:pic>
        <p:nvPicPr>
          <p:cNvPr descr="preencoded.png" id="829" name="Google Shape;82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363" y="3669625"/>
            <a:ext cx="901660" cy="90166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42"/>
          <p:cNvSpPr/>
          <p:nvPr/>
        </p:nvSpPr>
        <p:spPr>
          <a:xfrm>
            <a:off x="4139446" y="4798100"/>
            <a:ext cx="300561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Luis</a:t>
            </a:r>
            <a:endParaRPr b="0" i="0" sz="2650" u="none" cap="none" strike="noStrike"/>
          </a:p>
        </p:txBody>
      </p:sp>
      <p:sp>
        <p:nvSpPr>
          <p:cNvPr id="831" name="Google Shape;831;p42"/>
          <p:cNvSpPr/>
          <p:nvPr/>
        </p:nvSpPr>
        <p:spPr>
          <a:xfrm>
            <a:off x="4139446" y="5359479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Diseñador UX/UI</a:t>
            </a:r>
            <a:endParaRPr b="0" i="0" sz="1750" u="none" cap="none" strike="noStrike"/>
          </a:p>
        </p:txBody>
      </p:sp>
      <p:pic>
        <p:nvPicPr>
          <p:cNvPr descr="preencoded.png" id="832" name="Google Shape;83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7138" y="3669625"/>
            <a:ext cx="901660" cy="90166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42"/>
          <p:cNvSpPr/>
          <p:nvPr/>
        </p:nvSpPr>
        <p:spPr>
          <a:xfrm>
            <a:off x="7485221" y="4798100"/>
            <a:ext cx="300561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Matias</a:t>
            </a:r>
            <a:endParaRPr b="0" i="0" sz="2650" u="none" cap="none" strike="noStrike"/>
          </a:p>
        </p:txBody>
      </p:sp>
      <p:sp>
        <p:nvSpPr>
          <p:cNvPr id="834" name="Google Shape;834;p42"/>
          <p:cNvSpPr/>
          <p:nvPr/>
        </p:nvSpPr>
        <p:spPr>
          <a:xfrm>
            <a:off x="7485221" y="5359479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Desarrollador</a:t>
            </a:r>
            <a:endParaRPr b="0" i="0" sz="1750" u="none" cap="none" strike="noStrike"/>
          </a:p>
        </p:txBody>
      </p:sp>
      <p:pic>
        <p:nvPicPr>
          <p:cNvPr descr="preencoded.png" id="835" name="Google Shape;83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82914" y="3669625"/>
            <a:ext cx="901660" cy="90166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42"/>
          <p:cNvSpPr/>
          <p:nvPr/>
        </p:nvSpPr>
        <p:spPr>
          <a:xfrm>
            <a:off x="10830997" y="4798100"/>
            <a:ext cx="300561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oppins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oppins"/>
                <a:ea typeface="Poppins"/>
                <a:cs typeface="Poppins"/>
                <a:sym typeface="Poppins"/>
              </a:rPr>
              <a:t>Sabrina</a:t>
            </a:r>
            <a:endParaRPr b="0" i="0" sz="2650" u="none" cap="none" strike="noStrike"/>
          </a:p>
        </p:txBody>
      </p:sp>
      <p:sp>
        <p:nvSpPr>
          <p:cNvPr id="837" name="Google Shape;837;p42"/>
          <p:cNvSpPr/>
          <p:nvPr/>
        </p:nvSpPr>
        <p:spPr>
          <a:xfrm>
            <a:off x="10830997" y="5359479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Desarrolladora</a:t>
            </a:r>
            <a:endParaRPr b="0" i="0" sz="1750" u="none" cap="none" strike="noStrike"/>
          </a:p>
        </p:txBody>
      </p:sp>
      <p:pic>
        <p:nvPicPr>
          <p:cNvPr descr="preencoded.png" id="838" name="Google Shape;83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213080" y="228600"/>
            <a:ext cx="1188720" cy="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3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3"/>
          <p:cNvSpPr/>
          <p:nvPr/>
        </p:nvSpPr>
        <p:spPr>
          <a:xfrm>
            <a:off x="793803" y="3189575"/>
            <a:ext cx="11715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oppins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⚙️Situación inicial en TechLab.</a:t>
            </a:r>
            <a:endParaRPr b="0" i="0" sz="4450" u="none" cap="none" strike="noStrike"/>
          </a:p>
        </p:txBody>
      </p:sp>
      <p:sp>
        <p:nvSpPr>
          <p:cNvPr id="846" name="Google Shape;846;p43"/>
          <p:cNvSpPr/>
          <p:nvPr/>
        </p:nvSpPr>
        <p:spPr>
          <a:xfrm>
            <a:off x="793790" y="4351886"/>
            <a:ext cx="13042821" cy="35957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3"/>
          <p:cNvSpPr/>
          <p:nvPr/>
        </p:nvSpPr>
        <p:spPr>
          <a:xfrm>
            <a:off x="793790" y="4642961"/>
            <a:ext cx="130428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TechLab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, hemos recibido un nuevo proyecto de un cliente que requiere una aplicación backend robusta para gestionar su tienda en línea de manera eficiente.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Matías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Sabrina</a:t>
            </a:r>
            <a:r>
              <a:rPr b="0" i="0" lang="en-US" sz="17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, del equipo de desarrollo, están listos para comenzar, pero enfrentan un desafío inicial: necesitan preparar sus entornos de desarrollo para trabajar en Java, asegurando que todas las herramientas estén correctamente instaladas y configuradas. Este primer paso es crucial para garantizar que el equipo pueda colaborar de manera efectiva y desarrollar una API funcional que soporte el frontend del e-commerce del cliente.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4"/>
          <p:cNvSpPr/>
          <p:nvPr/>
        </p:nvSpPr>
        <p:spPr>
          <a:xfrm>
            <a:off x="0" y="0"/>
            <a:ext cx="14630400" cy="1290876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4"/>
          <p:cNvSpPr/>
          <p:nvPr/>
        </p:nvSpPr>
        <p:spPr>
          <a:xfrm>
            <a:off x="722824" y="2231600"/>
            <a:ext cx="6967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Poppins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</a:t>
            </a:r>
            <a:r>
              <a:rPr b="1" i="0" lang="en-US" sz="4050" u="none" cap="none" strike="noStrike">
                <a:solidFill>
                  <a:srgbClr val="27252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Ejercicio Práctico</a:t>
            </a:r>
            <a:endParaRPr b="0" i="0" sz="4050" u="none" cap="none" strike="noStrike"/>
          </a:p>
        </p:txBody>
      </p:sp>
      <p:sp>
        <p:nvSpPr>
          <p:cNvPr id="855" name="Google Shape;855;p44"/>
          <p:cNvSpPr/>
          <p:nvPr/>
        </p:nvSpPr>
        <p:spPr>
          <a:xfrm>
            <a:off x="9764911" y="2388989"/>
            <a:ext cx="4150162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Roboto"/>
                <a:ea typeface="Roboto"/>
                <a:cs typeface="Roboto"/>
                <a:sym typeface="Roboto"/>
              </a:rPr>
              <a:t>Optativo | No entregable</a:t>
            </a:r>
            <a:endParaRPr b="0" i="0" sz="1600" u="none" cap="none" strike="noStrike"/>
          </a:p>
        </p:txBody>
      </p:sp>
      <p:sp>
        <p:nvSpPr>
          <p:cNvPr id="856" name="Google Shape;856;p44"/>
          <p:cNvSpPr/>
          <p:nvPr/>
        </p:nvSpPr>
        <p:spPr>
          <a:xfrm>
            <a:off x="722828" y="3418964"/>
            <a:ext cx="13184743" cy="33338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4"/>
          <p:cNvSpPr/>
          <p:nvPr/>
        </p:nvSpPr>
        <p:spPr>
          <a:xfrm>
            <a:off x="722828" y="3684508"/>
            <a:ext cx="13184743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Preparar el entorno de desarrollo para trabajar en Java, asegurando que todas las herramientas estén correctamente instaladas y configuradas.</a:t>
            </a:r>
            <a:endParaRPr b="0" i="0" sz="1600" u="none" cap="none" strike="noStrike"/>
          </a:p>
        </p:txBody>
      </p:sp>
      <p:sp>
        <p:nvSpPr>
          <p:cNvPr id="858" name="Google Shape;858;p44"/>
          <p:cNvSpPr/>
          <p:nvPr/>
        </p:nvSpPr>
        <p:spPr>
          <a:xfrm>
            <a:off x="722828" y="4324826"/>
            <a:ext cx="3098244" cy="38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Instalación de IDE</a:t>
            </a:r>
            <a:endParaRPr b="0" i="0" sz="2400" u="none" cap="none" strike="noStrike"/>
          </a:p>
        </p:txBody>
      </p:sp>
      <p:sp>
        <p:nvSpPr>
          <p:cNvPr id="859" name="Google Shape;859;p44"/>
          <p:cNvSpPr/>
          <p:nvPr/>
        </p:nvSpPr>
        <p:spPr>
          <a:xfrm>
            <a:off x="722828" y="5646539"/>
            <a:ext cx="6340435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Asegurarte de que tenés instalado y configurado correctamente tu IDE (IntelliJ IDEA o Eclipse).</a:t>
            </a:r>
            <a:endParaRPr b="0" i="0" sz="1600" u="none" cap="none" strike="noStrike"/>
          </a:p>
        </p:txBody>
      </p:sp>
      <p:sp>
        <p:nvSpPr>
          <p:cNvPr id="860" name="Google Shape;860;p44"/>
          <p:cNvSpPr/>
          <p:nvPr/>
        </p:nvSpPr>
        <p:spPr>
          <a:xfrm>
            <a:off x="7574756" y="5207675"/>
            <a:ext cx="6340435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None/>
            </a:pPr>
            <a:r>
              <a:rPr b="1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Tareas:</a:t>
            </a:r>
            <a:endParaRPr b="0" i="0" sz="1600" u="none" cap="none" strike="noStrike"/>
          </a:p>
        </p:txBody>
      </p:sp>
      <p:sp>
        <p:nvSpPr>
          <p:cNvPr id="861" name="Google Shape;861;p44"/>
          <p:cNvSpPr/>
          <p:nvPr/>
        </p:nvSpPr>
        <p:spPr>
          <a:xfrm>
            <a:off x="7574756" y="5724049"/>
            <a:ext cx="6340435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Completa la instalación del IDE que elegiste.</a:t>
            </a:r>
            <a:endParaRPr b="0" i="0" sz="1600" u="none" cap="none" strike="noStrike"/>
          </a:p>
        </p:txBody>
      </p:sp>
      <p:sp>
        <p:nvSpPr>
          <p:cNvPr id="862" name="Google Shape;862;p44"/>
          <p:cNvSpPr/>
          <p:nvPr/>
        </p:nvSpPr>
        <p:spPr>
          <a:xfrm>
            <a:off x="7574756" y="6126837"/>
            <a:ext cx="6340435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Abrí el IDE y familiarizate con su interfaz.</a:t>
            </a:r>
            <a:endParaRPr b="0" i="0" sz="1600" u="none" cap="none" strike="noStrike"/>
          </a:p>
        </p:txBody>
      </p:sp>
      <p:sp>
        <p:nvSpPr>
          <p:cNvPr id="863" name="Google Shape;863;p44"/>
          <p:cNvSpPr/>
          <p:nvPr/>
        </p:nvSpPr>
        <p:spPr>
          <a:xfrm>
            <a:off x="7574756" y="6529626"/>
            <a:ext cx="6340435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Configurá el JDK en el IDE.</a:t>
            </a:r>
            <a:endParaRPr b="0" i="0" sz="1600" u="none" cap="none" strike="noStrike"/>
          </a:p>
        </p:txBody>
      </p:sp>
      <p:sp>
        <p:nvSpPr>
          <p:cNvPr id="864" name="Google Shape;864;p44"/>
          <p:cNvSpPr/>
          <p:nvPr/>
        </p:nvSpPr>
        <p:spPr>
          <a:xfrm>
            <a:off x="722828" y="7164705"/>
            <a:ext cx="13184743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/>
          <p:nvPr/>
        </p:nvSpPr>
        <p:spPr>
          <a:xfrm>
            <a:off x="0" y="0"/>
            <a:ext cx="14630400" cy="1240631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5"/>
          <p:cNvSpPr/>
          <p:nvPr/>
        </p:nvSpPr>
        <p:spPr>
          <a:xfrm>
            <a:off x="694723" y="2142650"/>
            <a:ext cx="7033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Poppins"/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⚙️</a:t>
            </a:r>
            <a:r>
              <a:rPr b="1" i="0" lang="en-US" sz="3900" u="none" cap="none" strike="noStrike">
                <a:solidFill>
                  <a:srgbClr val="272525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Ejercicio Práctico</a:t>
            </a:r>
            <a:endParaRPr b="0" i="0" sz="3900" u="none" cap="none" strike="noStrike"/>
          </a:p>
        </p:txBody>
      </p:sp>
      <p:sp>
        <p:nvSpPr>
          <p:cNvPr id="872" name="Google Shape;872;p45"/>
          <p:cNvSpPr/>
          <p:nvPr/>
        </p:nvSpPr>
        <p:spPr>
          <a:xfrm>
            <a:off x="10996255" y="2122765"/>
            <a:ext cx="294691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Roboto"/>
                <a:ea typeface="Roboto"/>
                <a:cs typeface="Roboto"/>
                <a:sym typeface="Roboto"/>
              </a:rPr>
              <a:t>Optativo | No entregable</a:t>
            </a:r>
            <a:endParaRPr b="0" i="0" sz="1550" u="none" cap="none" strike="noStrike"/>
          </a:p>
        </p:txBody>
      </p:sp>
      <p:sp>
        <p:nvSpPr>
          <p:cNvPr id="873" name="Google Shape;873;p45"/>
          <p:cNvSpPr/>
          <p:nvPr/>
        </p:nvSpPr>
        <p:spPr>
          <a:xfrm>
            <a:off x="694730" y="3291460"/>
            <a:ext cx="13240941" cy="32385"/>
          </a:xfrm>
          <a:prstGeom prst="rect">
            <a:avLst/>
          </a:prstGeom>
          <a:solidFill>
            <a:srgbClr val="27252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5"/>
          <p:cNvSpPr/>
          <p:nvPr/>
        </p:nvSpPr>
        <p:spPr>
          <a:xfrm>
            <a:off x="694730" y="3621405"/>
            <a:ext cx="4364831" cy="372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oppins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highlight>
                  <a:srgbClr val="FCEC99"/>
                </a:highlight>
                <a:latin typeface="Poppins"/>
                <a:ea typeface="Poppins"/>
                <a:cs typeface="Poppins"/>
                <a:sym typeface="Poppins"/>
              </a:rPr>
              <a:t>Crea tu primer "Hola Mundo"</a:t>
            </a:r>
            <a:endParaRPr b="0" i="0" sz="2300" u="none" cap="none" strike="noStrike"/>
          </a:p>
        </p:txBody>
      </p:sp>
      <p:sp>
        <p:nvSpPr>
          <p:cNvPr id="875" name="Google Shape;875;p45"/>
          <p:cNvSpPr/>
          <p:nvPr/>
        </p:nvSpPr>
        <p:spPr>
          <a:xfrm>
            <a:off x="694730" y="5050274"/>
            <a:ext cx="3495913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Practicar la creación y ejecución de programas en Java.</a:t>
            </a:r>
            <a:endParaRPr b="0" i="0" sz="1550" u="none" cap="none" strike="noStrike"/>
          </a:p>
        </p:txBody>
      </p:sp>
      <p:sp>
        <p:nvSpPr>
          <p:cNvPr id="876" name="Google Shape;876;p45"/>
          <p:cNvSpPr/>
          <p:nvPr/>
        </p:nvSpPr>
        <p:spPr>
          <a:xfrm>
            <a:off x="4682609" y="4469844"/>
            <a:ext cx="9260562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Tareas:</a:t>
            </a:r>
            <a:endParaRPr b="0" i="0" sz="1550" u="none" cap="none" strike="noStrike"/>
          </a:p>
        </p:txBody>
      </p:sp>
      <p:sp>
        <p:nvSpPr>
          <p:cNvPr id="877" name="Google Shape;877;p45"/>
          <p:cNvSpPr/>
          <p:nvPr/>
        </p:nvSpPr>
        <p:spPr>
          <a:xfrm>
            <a:off x="4682609" y="4965978"/>
            <a:ext cx="9260562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Creá una nueva clase Java llamada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SaludoPersonalizado</a:t>
            </a: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 dentro del paquete </a:t>
            </a:r>
            <a:r>
              <a:rPr b="1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com.techlab.inicio</a:t>
            </a: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550" u="none" cap="none" strike="noStrike"/>
          </a:p>
        </p:txBody>
      </p:sp>
      <p:sp>
        <p:nvSpPr>
          <p:cNvPr id="878" name="Google Shape;878;p45"/>
          <p:cNvSpPr/>
          <p:nvPr/>
        </p:nvSpPr>
        <p:spPr>
          <a:xfrm>
            <a:off x="4682609" y="5352931"/>
            <a:ext cx="9260562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Escribí un programa que imprima una frase diferente a "Hola Mundo", por ejemplo: "¡Bienvenides al mundo de Java!".</a:t>
            </a:r>
            <a:endParaRPr b="0" i="0" sz="1550" u="none" cap="none" strike="noStrike"/>
          </a:p>
        </p:txBody>
      </p:sp>
      <p:sp>
        <p:nvSpPr>
          <p:cNvPr id="879" name="Google Shape;879;p45"/>
          <p:cNvSpPr/>
          <p:nvPr/>
        </p:nvSpPr>
        <p:spPr>
          <a:xfrm>
            <a:off x="4682609" y="6057424"/>
            <a:ext cx="9260562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1" marL="6858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Ejecutá el programa y verificá que el mensaje se muestre correctamente en la consola</a:t>
            </a:r>
            <a:endParaRPr b="0" i="0" sz="1550" u="none" cap="none" strike="noStrike"/>
          </a:p>
        </p:txBody>
      </p:sp>
      <p:sp>
        <p:nvSpPr>
          <p:cNvPr id="880" name="Google Shape;880;p45"/>
          <p:cNvSpPr/>
          <p:nvPr/>
        </p:nvSpPr>
        <p:spPr>
          <a:xfrm>
            <a:off x="694730" y="6667619"/>
            <a:ext cx="1324094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881" name="Google Shape;881;p45"/>
          <p:cNvSpPr/>
          <p:nvPr/>
        </p:nvSpPr>
        <p:spPr>
          <a:xfrm>
            <a:off x="694730" y="7208401"/>
            <a:ext cx="1324094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2025-03-13T13:50:01Z</dcterms:created>
  <dc:creator>PptxGenJS</dc:creator>
</cp:coreProperties>
</file>